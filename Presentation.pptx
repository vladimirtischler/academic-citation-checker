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61" r:id="rId5"/>
    <p:sldId id="259" r:id="rId6"/>
    <p:sldId id="260" r:id="rId7"/>
    <p:sldId id="262" r:id="rId8"/>
    <p:sldId id="263" r:id="rId9"/>
    <p:sldId id="264" r:id="rId10"/>
    <p:sldId id="268" r:id="rId11"/>
    <p:sldId id="269" r:id="rId12"/>
    <p:sldId id="270" r:id="rId13"/>
    <p:sldId id="266" r:id="rId14"/>
  </p:sldIdLst>
  <p:sldSz cx="12192000" cy="6858000"/>
  <p:notesSz cx="6858000" cy="9144000"/>
  <p:defaultTextStyle>
    <a:defPPr>
      <a:defRPr lang="sk-S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14811D-654C-6782-0D31-337E6B98791D}" v="940" dt="2026-05-14T14:31:13.9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5" autoAdjust="0"/>
    <p:restoredTop sz="94660"/>
  </p:normalViewPr>
  <p:slideViewPr>
    <p:cSldViewPr snapToGrid="0">
      <p:cViewPr varScale="1">
        <p:scale>
          <a:sx n="95" d="100"/>
          <a:sy n="95" d="100"/>
        </p:scale>
        <p:origin x="20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965A7A7B-B71A-428D-833F-0F3507A6DB13}" type="datetimeFigureOut">
              <a:rPr lang="en-US" dirty="0"/>
              <a:t>5/14/2026</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A65A5C87-DF58-40C8-B092-1DE63DB4547E}" type="slidenum">
              <a:rPr lang="en-US" dirty="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509982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5CF65307-640F-4AE7-B0BE-50C709AD86C5}" type="datetimeFigureOut">
              <a:rPr lang="en-US" dirty="0"/>
              <a:t>5/14/2026</a:t>
            </a:fld>
            <a:endParaRPr lang="en-US" dirty="0"/>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2828747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F77EA1F9-1F0F-4C65-8F6E-9729B924AAAC}" type="datetimeFigureOut">
              <a:rPr lang="en-US" dirty="0"/>
              <a:t>5/14/2026</a:t>
            </a:fld>
            <a:endParaRPr lang="en-US" dirty="0"/>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41497340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202278E8-5F4B-47D5-A617-8CCDF75D6A33}" type="datetimeFigureOut">
              <a:rPr lang="en-US" dirty="0"/>
              <a:t>5/14/2026</a:t>
            </a:fld>
            <a:endParaRPr lang="en-US" dirty="0"/>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3660523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16AAFA52-7A21-407F-8339-40DF182D7460}" type="datetimeFigureOut">
              <a:rPr lang="en-US" dirty="0"/>
              <a:t>5/14/2026</a:t>
            </a:fld>
            <a:endParaRPr lang="en-US" dirty="0"/>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3681923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96770335-1C1A-4243-9BDD-9630C417D284}" type="datetimeFigureOut">
              <a:rPr lang="en-US" dirty="0"/>
              <a:t>5/14/2026</a:t>
            </a:fld>
            <a:endParaRPr lang="en-US" dirty="0"/>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3674992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141513F-8EBD-4612-96F4-CC3E309609AF}" type="datetimeFigureOut">
              <a:rPr lang="en-US" dirty="0"/>
              <a:t>5/14/2026</a:t>
            </a:fld>
            <a:endParaRPr lang="en-US" dirty="0"/>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3949217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6E6483A1-31A8-47A2-AB0A-53A7803D5EBF}" type="datetimeFigureOut">
              <a:rPr lang="en-US" dirty="0"/>
              <a:t>5/14/2026</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33558327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noChangeAspect="1"/>
          </p:cNvSpPr>
          <p:nvPr>
            <p:ph type="pic" idx="1"/>
          </p:nvPr>
        </p:nvSpPr>
        <p:spPr>
          <a:xfrm>
            <a:off x="4965192" y="1161288"/>
            <a:ext cx="6729984" cy="4645152"/>
          </a:xfrm>
        </p:spPr>
        <p:txBody>
          <a:bodyPr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6D8810B9-2C7C-4CAF-99E2-617AE20BA331}" type="datetimeFigureOut">
              <a:rPr lang="en-US" dirty="0"/>
              <a:t>5/14/2026</a:t>
            </a:fld>
            <a:endParaRPr lang="en-US" dirty="0"/>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32016664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F248F9EB-9D34-4B41-B66C-5FAF50876D2D}" type="datetimeFigureOut">
              <a:rPr lang="en-US" dirty="0"/>
              <a:t>5/14/2026</a:t>
            </a:fld>
            <a:endParaRPr lang="en-US" dirty="0"/>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28750149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34489A26-CAA1-4690-8C1F-1641B1B97745}" type="datetimeFigureOut">
              <a:rPr lang="en-US" dirty="0"/>
              <a:t>5/14/2026</a:t>
            </a:fld>
            <a:endParaRPr lang="en-US" dirty="0"/>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A65A5C87-DF58-40C8-B092-1DE63DB4547E}" type="slidenum">
              <a:rPr lang="en-US" dirty="0"/>
              <a:t>‹#›</a:t>
            </a:fld>
            <a:endParaRPr lang="en-US" dirty="0"/>
          </a:p>
        </p:txBody>
      </p:sp>
    </p:spTree>
    <p:extLst>
      <p:ext uri="{BB962C8B-B14F-4D97-AF65-F5344CB8AC3E}">
        <p14:creationId xmlns:p14="http://schemas.microsoft.com/office/powerpoint/2010/main" val="2344191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E93E0A-5177-400C-87C9-C93AF466EC49}" type="datetimeFigureOut">
              <a:rPr lang="en-US" dirty="0"/>
              <a:t>5/14/2026</a:t>
            </a:fld>
            <a:endParaRPr lang="en-US" dirty="0"/>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917615-2DB4-4DAA-9DE3-B2B689A846E0}" type="slidenum">
              <a:rPr lang="en-US" dirty="0"/>
              <a:t>‹#›</a:t>
            </a:fld>
            <a:endParaRPr lang="en-US" dirty="0"/>
          </a:p>
        </p:txBody>
      </p:sp>
    </p:spTree>
    <p:extLst>
      <p:ext uri="{BB962C8B-B14F-4D97-AF65-F5344CB8AC3E}">
        <p14:creationId xmlns:p14="http://schemas.microsoft.com/office/powerpoint/2010/main" val="2003554383"/>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ctrTitle"/>
          </p:nvPr>
        </p:nvSpPr>
        <p:spPr/>
        <p:txBody>
          <a:bodyPr>
            <a:normAutofit/>
          </a:bodyPr>
          <a:lstStyle/>
          <a:p>
            <a:r>
              <a:rPr lang="sk-SK" sz="3200">
                <a:latin typeface="Arial Nova"/>
                <a:ea typeface="+mj-lt"/>
                <a:cs typeface="+mj-lt"/>
              </a:rPr>
              <a:t>Automatic Citation Integrity Verification for LLM-Assisted Academic Writing</a:t>
            </a:r>
            <a:endParaRPr lang="sk-SK" sz="3200">
              <a:latin typeface="Arial Nova"/>
            </a:endParaRPr>
          </a:p>
        </p:txBody>
      </p:sp>
      <p:sp>
        <p:nvSpPr>
          <p:cNvPr id="3" name="Podnadpis 2"/>
          <p:cNvSpPr>
            <a:spLocks noGrp="1"/>
          </p:cNvSpPr>
          <p:nvPr>
            <p:ph type="subTitle" idx="1"/>
          </p:nvPr>
        </p:nvSpPr>
        <p:spPr/>
        <p:txBody>
          <a:bodyPr vert="horz" lIns="91440" tIns="45720" rIns="91440" bIns="45720" rtlCol="0" anchor="t">
            <a:normAutofit/>
          </a:bodyPr>
          <a:lstStyle/>
          <a:p>
            <a:r>
              <a:rPr lang="sk-SK"/>
              <a:t>Projektový seminár 1</a:t>
            </a:r>
            <a:br>
              <a:rPr lang="sk-SK" dirty="0"/>
            </a:br>
            <a:endParaRPr lang="sk-SK" dirty="0"/>
          </a:p>
        </p:txBody>
      </p:sp>
      <p:sp>
        <p:nvSpPr>
          <p:cNvPr id="4" name="BlokTextu 3">
            <a:extLst>
              <a:ext uri="{FF2B5EF4-FFF2-40B4-BE49-F238E27FC236}">
                <a16:creationId xmlns:a16="http://schemas.microsoft.com/office/drawing/2014/main" id="{C60DB420-8938-7B0F-E399-98ECA5278B83}"/>
              </a:ext>
            </a:extLst>
          </p:cNvPr>
          <p:cNvSpPr txBox="1"/>
          <p:nvPr/>
        </p:nvSpPr>
        <p:spPr>
          <a:xfrm>
            <a:off x="9734601" y="6135751"/>
            <a:ext cx="221243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k-SK"/>
              <a:t>Bc. Vladimír Tischler</a:t>
            </a:r>
          </a:p>
        </p:txBody>
      </p:sp>
      <p:sp>
        <p:nvSpPr>
          <p:cNvPr id="5" name="BlokTextu 4">
            <a:extLst>
              <a:ext uri="{FF2B5EF4-FFF2-40B4-BE49-F238E27FC236}">
                <a16:creationId xmlns:a16="http://schemas.microsoft.com/office/drawing/2014/main" id="{13C57EE2-5F27-9F2E-7AAB-ABFFF399978B}"/>
              </a:ext>
            </a:extLst>
          </p:cNvPr>
          <p:cNvSpPr txBox="1"/>
          <p:nvPr/>
        </p:nvSpPr>
        <p:spPr>
          <a:xfrm>
            <a:off x="264583" y="6134461"/>
            <a:ext cx="346255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k-SK"/>
              <a:t>Školiteľ: Mgr. Marek Šuppa</a:t>
            </a:r>
          </a:p>
        </p:txBody>
      </p:sp>
    </p:spTree>
    <p:extLst>
      <p:ext uri="{BB962C8B-B14F-4D97-AF65-F5344CB8AC3E}">
        <p14:creationId xmlns:p14="http://schemas.microsoft.com/office/powerpoint/2010/main" val="3676557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DCD5410-58B9-B7E6-ABA3-E811BBDF14D1}"/>
              </a:ext>
            </a:extLst>
          </p:cNvPr>
          <p:cNvSpPr>
            <a:spLocks noGrp="1"/>
          </p:cNvSpPr>
          <p:nvPr>
            <p:ph type="title"/>
          </p:nvPr>
        </p:nvSpPr>
        <p:spPr/>
        <p:txBody>
          <a:bodyPr/>
          <a:lstStyle/>
          <a:p>
            <a:r>
              <a:rPr lang="sk-SK">
                <a:latin typeface="Arial"/>
                <a:cs typeface="Arial"/>
              </a:rPr>
              <a:t>Motivácia a problém</a:t>
            </a:r>
          </a:p>
        </p:txBody>
      </p:sp>
      <p:sp>
        <p:nvSpPr>
          <p:cNvPr id="3" name="Zástupný objekt pre obsah 2">
            <a:extLst>
              <a:ext uri="{FF2B5EF4-FFF2-40B4-BE49-F238E27FC236}">
                <a16:creationId xmlns:a16="http://schemas.microsoft.com/office/drawing/2014/main" id="{2DE681BD-02A7-E817-7ED5-36B4A2E90C37}"/>
              </a:ext>
            </a:extLst>
          </p:cNvPr>
          <p:cNvSpPr>
            <a:spLocks noGrp="1"/>
          </p:cNvSpPr>
          <p:nvPr>
            <p:ph idx="1"/>
          </p:nvPr>
        </p:nvSpPr>
        <p:spPr/>
        <p:txBody>
          <a:bodyPr vert="horz" lIns="91440" tIns="45720" rIns="91440" bIns="45720" rtlCol="0" anchor="t">
            <a:noAutofit/>
          </a:bodyPr>
          <a:lstStyle/>
          <a:p>
            <a:r>
              <a:rPr lang="sk-SK" sz="1800" b="1">
                <a:latin typeface="Arial"/>
                <a:ea typeface="+mn-lt"/>
                <a:cs typeface="Arial"/>
              </a:rPr>
              <a:t>Problém:</a:t>
            </a:r>
            <a:r>
              <a:rPr lang="sk-SK" sz="1800">
                <a:latin typeface="Arial"/>
                <a:ea typeface="+mn-lt"/>
                <a:cs typeface="Arial"/>
              </a:rPr>
              <a:t> Veľké jazykové modely (LLM) generujú vierohodne vyzerajúce citácie, ktoré sú však často čiastočne alebo úplne vymyslené (halucinácie).</a:t>
            </a:r>
            <a:endParaRPr lang="sk-SK" sz="1800">
              <a:latin typeface="Arial"/>
              <a:cs typeface="Arial"/>
            </a:endParaRPr>
          </a:p>
          <a:p>
            <a:endParaRPr lang="sk-SK" sz="1800" dirty="0">
              <a:latin typeface="Arial"/>
              <a:ea typeface="+mn-lt"/>
              <a:cs typeface="Arial"/>
            </a:endParaRPr>
          </a:p>
          <a:p>
            <a:endParaRPr lang="sk-SK" sz="1800" dirty="0">
              <a:latin typeface="Arial"/>
              <a:cs typeface="Arial"/>
            </a:endParaRPr>
          </a:p>
          <a:p>
            <a:r>
              <a:rPr lang="sk-SK" sz="1800" b="1">
                <a:latin typeface="Arial"/>
                <a:ea typeface="+mn-lt"/>
                <a:cs typeface="Arial"/>
              </a:rPr>
              <a:t>Cieľ:</a:t>
            </a:r>
            <a:r>
              <a:rPr lang="sk-SK" sz="1800">
                <a:latin typeface="Arial"/>
                <a:ea typeface="+mn-lt"/>
                <a:cs typeface="Arial"/>
              </a:rPr>
              <a:t> Navrhnúť systém, ktorý odhalí neexistujúce alebo nekonzistentné práce a posúdi, či citovaný text skutočne podporuje tvrdenie v diplomovke.</a:t>
            </a:r>
            <a:endParaRPr lang="sk-SK" sz="1800">
              <a:latin typeface="Arial"/>
              <a:cs typeface="Arial"/>
            </a:endParaRPr>
          </a:p>
          <a:p>
            <a:endParaRPr lang="sk-SK" dirty="0"/>
          </a:p>
        </p:txBody>
      </p:sp>
    </p:spTree>
    <p:extLst>
      <p:ext uri="{BB962C8B-B14F-4D97-AF65-F5344CB8AC3E}">
        <p14:creationId xmlns:p14="http://schemas.microsoft.com/office/powerpoint/2010/main" val="28823205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7555D2C1-2C8F-4B80-BD31-F3F76F9B941D}"/>
              </a:ext>
            </a:extLst>
          </p:cNvPr>
          <p:cNvSpPr>
            <a:spLocks noGrp="1"/>
          </p:cNvSpPr>
          <p:nvPr>
            <p:ph type="title"/>
          </p:nvPr>
        </p:nvSpPr>
        <p:spPr/>
        <p:txBody>
          <a:bodyPr/>
          <a:lstStyle/>
          <a:p>
            <a:r>
              <a:rPr lang="sk-SK">
                <a:latin typeface="Arial"/>
                <a:cs typeface="Arial"/>
              </a:rPr>
              <a:t>Ciele práce</a:t>
            </a:r>
          </a:p>
        </p:txBody>
      </p:sp>
      <p:sp>
        <p:nvSpPr>
          <p:cNvPr id="3" name="Zástupný objekt pre obsah 2">
            <a:extLst>
              <a:ext uri="{FF2B5EF4-FFF2-40B4-BE49-F238E27FC236}">
                <a16:creationId xmlns:a16="http://schemas.microsoft.com/office/drawing/2014/main" id="{66282ECC-3141-78B4-905D-D25E06D9AE3F}"/>
              </a:ext>
            </a:extLst>
          </p:cNvPr>
          <p:cNvSpPr>
            <a:spLocks noGrp="1"/>
          </p:cNvSpPr>
          <p:nvPr>
            <p:ph idx="1"/>
          </p:nvPr>
        </p:nvSpPr>
        <p:spPr>
          <a:xfrm>
            <a:off x="1115568" y="2237393"/>
            <a:ext cx="10168128" cy="3694176"/>
          </a:xfrm>
        </p:spPr>
        <p:txBody>
          <a:bodyPr vert="horz" lIns="91440" tIns="45720" rIns="91440" bIns="45720" rtlCol="0" anchor="t">
            <a:normAutofit fontScale="92500" lnSpcReduction="10000"/>
          </a:bodyPr>
          <a:lstStyle/>
          <a:p>
            <a:r>
              <a:rPr lang="sk-SK" sz="1800" dirty="0">
                <a:solidFill>
                  <a:srgbClr val="252525"/>
                </a:solidFill>
                <a:latin typeface="Arial"/>
                <a:ea typeface="Roboto"/>
                <a:cs typeface="Arial"/>
              </a:rPr>
              <a:t>Vytvorenie </a:t>
            </a:r>
            <a:r>
              <a:rPr lang="sk-SK" sz="1800" dirty="0" err="1">
                <a:solidFill>
                  <a:srgbClr val="252525"/>
                </a:solidFill>
                <a:latin typeface="Arial"/>
                <a:ea typeface="Roboto"/>
                <a:cs typeface="Arial"/>
              </a:rPr>
              <a:t>evaluačného</a:t>
            </a:r>
            <a:r>
              <a:rPr lang="sk-SK" sz="1800" dirty="0">
                <a:solidFill>
                  <a:srgbClr val="252525"/>
                </a:solidFill>
                <a:latin typeface="Arial"/>
                <a:ea typeface="Roboto"/>
                <a:cs typeface="Arial"/>
              </a:rPr>
              <a:t> setu akademických pasáží s citáciami vrátane odkazov generovaných LLM, s označeniami pre existenciu, správnosť metadát a podporu kontextu. </a:t>
            </a:r>
            <a:endParaRPr lang="sk-SK" sz="1800" dirty="0">
              <a:solidFill>
                <a:srgbClr val="000000"/>
              </a:solidFill>
              <a:latin typeface="Arial"/>
              <a:ea typeface="Roboto"/>
              <a:cs typeface="Arial"/>
            </a:endParaRPr>
          </a:p>
          <a:p>
            <a:r>
              <a:rPr lang="sk-SK" sz="1800" dirty="0">
                <a:solidFill>
                  <a:srgbClr val="252525"/>
                </a:solidFill>
                <a:latin typeface="Arial"/>
                <a:ea typeface="Roboto"/>
                <a:cs typeface="Arial"/>
              </a:rPr>
              <a:t>Porovnanie prístupov k </a:t>
            </a:r>
            <a:r>
              <a:rPr lang="sk-SK" sz="1800" dirty="0" err="1">
                <a:solidFill>
                  <a:srgbClr val="252525"/>
                </a:solidFill>
                <a:latin typeface="Arial"/>
                <a:ea typeface="Roboto"/>
                <a:cs typeface="Arial"/>
              </a:rPr>
              <a:t>parsovaniu</a:t>
            </a:r>
            <a:r>
              <a:rPr lang="sk-SK" sz="1800" dirty="0">
                <a:solidFill>
                  <a:srgbClr val="252525"/>
                </a:solidFill>
                <a:latin typeface="Arial"/>
                <a:ea typeface="Roboto"/>
                <a:cs typeface="Arial"/>
              </a:rPr>
              <a:t> a normalizácii odkazov pre zašumené, štýlovo rôzne bibliografické reťazce s dôrazom na robustnosť voči neúplným metadátam. </a:t>
            </a:r>
            <a:endParaRPr lang="sk-SK" sz="1800" dirty="0">
              <a:solidFill>
                <a:srgbClr val="000000"/>
              </a:solidFill>
              <a:latin typeface="Arial"/>
              <a:ea typeface="Roboto"/>
              <a:cs typeface="Arial"/>
            </a:endParaRPr>
          </a:p>
          <a:p>
            <a:r>
              <a:rPr lang="sk-SK" sz="1800" dirty="0">
                <a:solidFill>
                  <a:srgbClr val="252525"/>
                </a:solidFill>
                <a:latin typeface="Arial"/>
                <a:ea typeface="Roboto"/>
                <a:cs typeface="Arial"/>
              </a:rPr>
              <a:t>Vývoj modulu na rozlíšenie citácií (obnova identifikátorov + </a:t>
            </a:r>
            <a:r>
              <a:rPr lang="sk-SK" sz="1800" dirty="0" err="1">
                <a:solidFill>
                  <a:srgbClr val="252525"/>
                </a:solidFill>
                <a:latin typeface="Arial"/>
                <a:ea typeface="Roboto"/>
                <a:cs typeface="Arial"/>
              </a:rPr>
              <a:t>fuzzy</a:t>
            </a:r>
            <a:r>
              <a:rPr lang="sk-SK" sz="1800" dirty="0">
                <a:solidFill>
                  <a:srgbClr val="252525"/>
                </a:solidFill>
                <a:latin typeface="Arial"/>
                <a:ea typeface="Roboto"/>
                <a:cs typeface="Arial"/>
              </a:rPr>
              <a:t> porovnávanie), ktorého cieľom je oddeliť „neexistujúce“ od „reálnych, ale chybne formátovaných/nesprávne sa zhodujúcich“ odkazov. </a:t>
            </a:r>
            <a:endParaRPr lang="sk-SK" sz="1800" dirty="0">
              <a:solidFill>
                <a:srgbClr val="000000"/>
              </a:solidFill>
              <a:latin typeface="Arial"/>
              <a:ea typeface="Roboto"/>
              <a:cs typeface="Arial"/>
            </a:endParaRPr>
          </a:p>
          <a:p>
            <a:r>
              <a:rPr lang="sk-SK" sz="1800" dirty="0">
                <a:solidFill>
                  <a:srgbClr val="252525"/>
                </a:solidFill>
                <a:latin typeface="Arial"/>
                <a:ea typeface="Roboto"/>
                <a:cs typeface="Arial"/>
              </a:rPr>
              <a:t>Vytvorenie prototypu pre ľahkú kontrolu „podpory citácií“, ktorej cieľom je vyhodnotiť, či citované dielo zodpovedá tvrdeniu uvedenému v blízkosti citácie, a analyzovať režimy zlyhania. </a:t>
            </a:r>
            <a:endParaRPr lang="sk-SK" sz="1800" dirty="0">
              <a:solidFill>
                <a:srgbClr val="000000"/>
              </a:solidFill>
              <a:latin typeface="Arial"/>
              <a:ea typeface="Roboto"/>
              <a:cs typeface="Arial"/>
            </a:endParaRPr>
          </a:p>
          <a:p>
            <a:r>
              <a:rPr lang="sk-SK" sz="1800" dirty="0">
                <a:solidFill>
                  <a:srgbClr val="252525"/>
                </a:solidFill>
                <a:latin typeface="Arial"/>
                <a:ea typeface="Roboto"/>
                <a:cs typeface="Arial"/>
              </a:rPr>
              <a:t>Vyhodnotenie prevádzkových kompromisov (presnosť pri vysokej úplnosti, latencia/náklady, posun domény) a navrhnutie prahových hodnôt pre hlásenie vhodných pre redakčné/vzdelávacie použitie.</a:t>
            </a:r>
            <a:br>
              <a:rPr lang="en-US" dirty="0">
                <a:latin typeface="Arial"/>
                <a:cs typeface="Arial"/>
              </a:rPr>
            </a:br>
            <a:endParaRPr lang="en-US" dirty="0">
              <a:latin typeface="Arial"/>
              <a:cs typeface="Arial"/>
            </a:endParaRPr>
          </a:p>
        </p:txBody>
      </p:sp>
    </p:spTree>
    <p:extLst>
      <p:ext uri="{BB962C8B-B14F-4D97-AF65-F5344CB8AC3E}">
        <p14:creationId xmlns:p14="http://schemas.microsoft.com/office/powerpoint/2010/main" val="733451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6BFB6BA-7E52-DAC8-E804-00F6562A1BF6}"/>
              </a:ext>
            </a:extLst>
          </p:cNvPr>
          <p:cNvSpPr>
            <a:spLocks noGrp="1"/>
          </p:cNvSpPr>
          <p:nvPr>
            <p:ph type="title"/>
          </p:nvPr>
        </p:nvSpPr>
        <p:spPr>
          <a:xfrm>
            <a:off x="838200" y="2762637"/>
            <a:ext cx="10515600" cy="1325563"/>
          </a:xfrm>
        </p:spPr>
        <p:txBody>
          <a:bodyPr/>
          <a:lstStyle/>
          <a:p>
            <a:r>
              <a:rPr lang="sk-SK">
                <a:latin typeface="Arial"/>
                <a:cs typeface="Arial"/>
              </a:rPr>
              <a:t>Prečítaná literatúra</a:t>
            </a:r>
          </a:p>
        </p:txBody>
      </p:sp>
    </p:spTree>
    <p:extLst>
      <p:ext uri="{BB962C8B-B14F-4D97-AF65-F5344CB8AC3E}">
        <p14:creationId xmlns:p14="http://schemas.microsoft.com/office/powerpoint/2010/main" val="4113206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B37A491-43FE-CBD4-4AF9-4D839BBE50BC}"/>
              </a:ext>
            </a:extLst>
          </p:cNvPr>
          <p:cNvSpPr>
            <a:spLocks noGrp="1"/>
          </p:cNvSpPr>
          <p:nvPr>
            <p:ph type="title"/>
          </p:nvPr>
        </p:nvSpPr>
        <p:spPr/>
        <p:txBody>
          <a:bodyPr/>
          <a:lstStyle/>
          <a:p>
            <a:r>
              <a:rPr lang="sk-SK" sz="2400" b="1" i="1">
                <a:solidFill>
                  <a:srgbClr val="252525"/>
                </a:solidFill>
                <a:latin typeface="Arial"/>
                <a:cs typeface="Arial"/>
              </a:rPr>
              <a:t>Článok:</a:t>
            </a:r>
            <a:r>
              <a:rPr lang="sk-SK" sz="1800" i="1">
                <a:solidFill>
                  <a:srgbClr val="252525"/>
                </a:solidFill>
                <a:latin typeface="Aptos"/>
              </a:rPr>
              <a:t> </a:t>
            </a:r>
            <a:r>
              <a:rPr lang="sk-SK" sz="2400" i="1">
                <a:solidFill>
                  <a:srgbClr val="252525"/>
                </a:solidFill>
                <a:latin typeface="Arial"/>
                <a:cs typeface="Arial"/>
              </a:rPr>
              <a:t>Fabrication and errors in the bibliographic citations generated by ChatGPT</a:t>
            </a:r>
            <a:endParaRPr lang="sk-SK"/>
          </a:p>
        </p:txBody>
      </p:sp>
      <p:sp>
        <p:nvSpPr>
          <p:cNvPr id="3" name="Zástupný objekt pre obsah 2">
            <a:extLst>
              <a:ext uri="{FF2B5EF4-FFF2-40B4-BE49-F238E27FC236}">
                <a16:creationId xmlns:a16="http://schemas.microsoft.com/office/drawing/2014/main" id="{8B1EE4DB-296C-5C33-6142-5F06D76EA39E}"/>
              </a:ext>
            </a:extLst>
          </p:cNvPr>
          <p:cNvSpPr>
            <a:spLocks noGrp="1"/>
          </p:cNvSpPr>
          <p:nvPr>
            <p:ph idx="1"/>
          </p:nvPr>
        </p:nvSpPr>
        <p:spPr/>
        <p:txBody>
          <a:bodyPr vert="horz" lIns="91440" tIns="45720" rIns="91440" bIns="45720" rtlCol="0" anchor="t">
            <a:normAutofit/>
          </a:bodyPr>
          <a:lstStyle/>
          <a:p>
            <a:r>
              <a:rPr lang="sk-SK" sz="1800">
                <a:solidFill>
                  <a:srgbClr val="252525"/>
                </a:solidFill>
                <a:latin typeface="Arial"/>
                <a:ea typeface="Roboto"/>
                <a:cs typeface="Arial"/>
              </a:rPr>
              <a:t>Autor testoval modely ChatGPT 3.5 a ChatGPT 4.0 na 42 multidisciplinárnych okruhoch, ktoré mali generovať texty aj s bibliografiou.</a:t>
            </a:r>
            <a:endParaRPr lang="sk-SK"/>
          </a:p>
          <a:p>
            <a:r>
              <a:rPr lang="sk-SK" sz="1800" b="1">
                <a:solidFill>
                  <a:srgbClr val="252525"/>
                </a:solidFill>
                <a:latin typeface="Arial"/>
                <a:ea typeface="Roboto"/>
                <a:cs typeface="Arial"/>
              </a:rPr>
              <a:t>Výsledky:</a:t>
            </a:r>
            <a:r>
              <a:rPr lang="sk-SK" sz="1800">
                <a:solidFill>
                  <a:srgbClr val="252525"/>
                </a:solidFill>
                <a:latin typeface="Arial"/>
                <a:ea typeface="Roboto"/>
                <a:cs typeface="Arial"/>
              </a:rPr>
              <a:t> GPT-4 predstavuje pokrok, ale stále má napríklad 18 % vymyslených citácií (oproti 55 % pri GPT-3.5).</a:t>
            </a:r>
          </a:p>
          <a:p>
            <a:r>
              <a:rPr lang="sk-SK" sz="1800" b="1">
                <a:solidFill>
                  <a:srgbClr val="252525"/>
                </a:solidFill>
                <a:latin typeface="Arial"/>
                <a:ea typeface="Roboto"/>
                <a:cs typeface="Arial"/>
              </a:rPr>
              <a:t>Záver: </a:t>
            </a:r>
            <a:r>
              <a:rPr lang="sk-SK" sz="1800">
                <a:solidFill>
                  <a:srgbClr val="252525"/>
                </a:solidFill>
                <a:latin typeface="Arial"/>
                <a:ea typeface="Roboto"/>
                <a:cs typeface="Arial"/>
              </a:rPr>
              <a:t>LLM nie sú databázové vyhľadávače, ale jazykové modely predpovedajúce slová na základe štatistiky, čo vedie k tvorbe fiktívnych záznamov.</a:t>
            </a:r>
            <a:endParaRPr lang="sk-SK" sz="1800" dirty="0">
              <a:solidFill>
                <a:srgbClr val="252525"/>
              </a:solidFill>
              <a:latin typeface="Arial"/>
              <a:ea typeface="Roboto"/>
              <a:cs typeface="Arial"/>
            </a:endParaRPr>
          </a:p>
        </p:txBody>
      </p:sp>
      <p:pic>
        <p:nvPicPr>
          <p:cNvPr id="4" name="Obrázok 3" descr="Obrázok, na ktorom je text, snímka obrazovky, písmo, číslo&#10;&#10;Obsah vygenerovaný pomocou AI môže byť nesprávny.">
            <a:extLst>
              <a:ext uri="{FF2B5EF4-FFF2-40B4-BE49-F238E27FC236}">
                <a16:creationId xmlns:a16="http://schemas.microsoft.com/office/drawing/2014/main" id="{F620C7A6-001C-52C6-09DA-0D8514ED9157}"/>
              </a:ext>
            </a:extLst>
          </p:cNvPr>
          <p:cNvPicPr>
            <a:picLocks noChangeAspect="1"/>
          </p:cNvPicPr>
          <p:nvPr/>
        </p:nvPicPr>
        <p:blipFill>
          <a:blip r:embed="rId2"/>
          <a:stretch>
            <a:fillRect/>
          </a:stretch>
        </p:blipFill>
        <p:spPr>
          <a:xfrm>
            <a:off x="2908378" y="4844392"/>
            <a:ext cx="6115050" cy="1666875"/>
          </a:xfrm>
          <a:prstGeom prst="rect">
            <a:avLst/>
          </a:prstGeom>
        </p:spPr>
      </p:pic>
    </p:spTree>
    <p:extLst>
      <p:ext uri="{BB962C8B-B14F-4D97-AF65-F5344CB8AC3E}">
        <p14:creationId xmlns:p14="http://schemas.microsoft.com/office/powerpoint/2010/main" val="2859018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1F79B6D-38DF-33E3-B4D5-4872C7FF2E50}"/>
              </a:ext>
            </a:extLst>
          </p:cNvPr>
          <p:cNvSpPr>
            <a:spLocks noGrp="1"/>
          </p:cNvSpPr>
          <p:nvPr>
            <p:ph type="title"/>
          </p:nvPr>
        </p:nvSpPr>
        <p:spPr/>
        <p:txBody>
          <a:bodyPr>
            <a:normAutofit/>
          </a:bodyPr>
          <a:lstStyle/>
          <a:p>
            <a:r>
              <a:rPr lang="sk-SK" sz="2400" b="1" i="1">
                <a:solidFill>
                  <a:srgbClr val="252525"/>
                </a:solidFill>
                <a:latin typeface="Arial"/>
                <a:cs typeface="Arial"/>
              </a:rPr>
              <a:t>Článok: </a:t>
            </a:r>
            <a:r>
              <a:rPr lang="sk-SK" sz="2400" i="1">
                <a:solidFill>
                  <a:srgbClr val="252525"/>
                </a:solidFill>
                <a:latin typeface="Arial"/>
                <a:cs typeface="Arial"/>
              </a:rPr>
              <a:t>A pipeline for matching bibliographic references with incomplete metadata: experiments with Crossref and OpenCitations</a:t>
            </a:r>
          </a:p>
        </p:txBody>
      </p:sp>
      <p:sp>
        <p:nvSpPr>
          <p:cNvPr id="3" name="Zástupný objekt pre obsah 2">
            <a:extLst>
              <a:ext uri="{FF2B5EF4-FFF2-40B4-BE49-F238E27FC236}">
                <a16:creationId xmlns:a16="http://schemas.microsoft.com/office/drawing/2014/main" id="{B2E106C6-7053-F1B5-392A-791C1A5727B5}"/>
              </a:ext>
            </a:extLst>
          </p:cNvPr>
          <p:cNvSpPr>
            <a:spLocks noGrp="1"/>
          </p:cNvSpPr>
          <p:nvPr>
            <p:ph idx="1"/>
          </p:nvPr>
        </p:nvSpPr>
        <p:spPr>
          <a:xfrm>
            <a:off x="1115568" y="2022683"/>
            <a:ext cx="10168128" cy="3694176"/>
          </a:xfrm>
        </p:spPr>
        <p:txBody>
          <a:bodyPr vert="horz" lIns="91440" tIns="45720" rIns="91440" bIns="45720" rtlCol="0" anchor="t">
            <a:normAutofit/>
          </a:bodyPr>
          <a:lstStyle/>
          <a:p>
            <a:r>
              <a:rPr lang="sk-SK" sz="1800" b="1">
                <a:solidFill>
                  <a:srgbClr val="252525"/>
                </a:solidFill>
                <a:latin typeface="Arial"/>
                <a:ea typeface="Roboto"/>
                <a:cs typeface="Arial"/>
              </a:rPr>
              <a:t>Problém:</a:t>
            </a:r>
            <a:r>
              <a:rPr lang="sk-SK" sz="1800">
                <a:solidFill>
                  <a:srgbClr val="252525"/>
                </a:solidFill>
                <a:latin typeface="Arial"/>
                <a:ea typeface="Roboto"/>
                <a:cs typeface="Arial"/>
              </a:rPr>
              <a:t> Zásadným problémom je, že mnoho článkov nemá pridelené DOI, čo sťažuje ich automatické overovanie. Databáza Crossref obsahuje 1,8 miliardy referencií, no až 698 miliónov (38 %) z nich nemá DOI. Súčasné systémy (napr. OpenCitations) takéto referencie často zahadzujú, čím sa strácajú cenné informácie o citačnej sieti. </a:t>
            </a:r>
          </a:p>
          <a:p>
            <a:r>
              <a:rPr lang="sk-SK" sz="1800" b="1">
                <a:solidFill>
                  <a:srgbClr val="252525"/>
                </a:solidFill>
                <a:latin typeface="Arial"/>
                <a:ea typeface="Roboto"/>
                <a:cs typeface="Arial"/>
              </a:rPr>
              <a:t>Riešenie: </a:t>
            </a:r>
            <a:r>
              <a:rPr lang="sk-SK" sz="1800">
                <a:solidFill>
                  <a:srgbClr val="252525"/>
                </a:solidFill>
                <a:latin typeface="Arial"/>
                <a:ea typeface="Roboto"/>
                <a:cs typeface="Arial"/>
              </a:rPr>
              <a:t>Kaskádovú stratégiu SPARQL dopytov na OpenCitations Meta, ktorá postupuje od najpresnejších údajov (DOI) po voľnejšie (autor, rok, strana). Ak táto stratégia zlyhá, využíva sa nástroj GROBID na extrakciu metadát z neštruktúrovaných reťazcov. Potom sa proces sopytov zopakuje.</a:t>
            </a:r>
          </a:p>
          <a:p>
            <a:r>
              <a:rPr lang="sk-SK" sz="1800" b="1">
                <a:solidFill>
                  <a:srgbClr val="252525"/>
                </a:solidFill>
                <a:latin typeface="Arial"/>
                <a:ea typeface="Roboto"/>
                <a:cs typeface="Arial"/>
              </a:rPr>
              <a:t>Záver:</a:t>
            </a:r>
            <a:r>
              <a:rPr lang="sk-SK" sz="1800">
                <a:solidFill>
                  <a:srgbClr val="252525"/>
                </a:solidFill>
                <a:latin typeface="Arial"/>
                <a:ea typeface="Roboto"/>
                <a:cs typeface="Arial"/>
              </a:rPr>
              <a:t> Nasadenie pipeline na aprílový dump Crossrefu (2025) by umožnilo do OpenCitations doplniť 404 miliónov nových prepojení z pôvodne chýbajúcich 698 miliónov referencií bez DOI, čo predstavuje 58 % úspešnosť.</a:t>
            </a:r>
          </a:p>
          <a:p>
            <a:endParaRPr lang="sk-SK" sz="1800" dirty="0">
              <a:solidFill>
                <a:srgbClr val="252525"/>
              </a:solidFill>
              <a:latin typeface="Arial"/>
              <a:ea typeface="Roboto"/>
              <a:cs typeface="Arial"/>
            </a:endParaRPr>
          </a:p>
        </p:txBody>
      </p:sp>
      <p:pic>
        <p:nvPicPr>
          <p:cNvPr id="5" name="Obrázok 4" descr="Obrázok, na ktorom je text, snímka obrazovky, písmo, rad&#10;&#10;Obsah vygenerovaný pomocou AI môže byť nesprávny.">
            <a:extLst>
              <a:ext uri="{FF2B5EF4-FFF2-40B4-BE49-F238E27FC236}">
                <a16:creationId xmlns:a16="http://schemas.microsoft.com/office/drawing/2014/main" id="{2D9965EF-5B4A-A547-9A3A-F9349013046B}"/>
              </a:ext>
            </a:extLst>
          </p:cNvPr>
          <p:cNvPicPr>
            <a:picLocks noChangeAspect="1"/>
          </p:cNvPicPr>
          <p:nvPr/>
        </p:nvPicPr>
        <p:blipFill>
          <a:blip r:embed="rId2"/>
          <a:stretch>
            <a:fillRect/>
          </a:stretch>
        </p:blipFill>
        <p:spPr>
          <a:xfrm>
            <a:off x="2550145" y="5790852"/>
            <a:ext cx="7296150" cy="1019175"/>
          </a:xfrm>
          <a:prstGeom prst="rect">
            <a:avLst/>
          </a:prstGeom>
        </p:spPr>
      </p:pic>
    </p:spTree>
    <p:extLst>
      <p:ext uri="{BB962C8B-B14F-4D97-AF65-F5344CB8AC3E}">
        <p14:creationId xmlns:p14="http://schemas.microsoft.com/office/powerpoint/2010/main" val="3860486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07AE71F-5A0D-AB20-F9FA-C68EFF648276}"/>
              </a:ext>
            </a:extLst>
          </p:cNvPr>
          <p:cNvSpPr>
            <a:spLocks noGrp="1"/>
          </p:cNvSpPr>
          <p:nvPr>
            <p:ph type="title"/>
          </p:nvPr>
        </p:nvSpPr>
        <p:spPr/>
        <p:txBody>
          <a:bodyPr/>
          <a:lstStyle/>
          <a:p>
            <a:r>
              <a:rPr lang="sk-SK" sz="2400" b="1" i="1">
                <a:latin typeface="Arial"/>
                <a:cs typeface="Arial"/>
              </a:rPr>
              <a:t>Článok:</a:t>
            </a:r>
            <a:r>
              <a:rPr lang="sk-SK" sz="2400" i="1" dirty="0">
                <a:latin typeface="Arial"/>
                <a:cs typeface="Arial"/>
              </a:rPr>
              <a:t> </a:t>
            </a:r>
            <a:r>
              <a:rPr lang="sk-SK" sz="2400" i="1">
                <a:latin typeface="Arial"/>
                <a:ea typeface="+mj-lt"/>
                <a:cs typeface="Arial"/>
              </a:rPr>
              <a:t>CiteME: Can Language Models Accurately Cite Scientific Claims?</a:t>
            </a:r>
            <a:r>
              <a:rPr lang="sk-SK" dirty="0">
                <a:ea typeface="+mj-lt"/>
                <a:cs typeface="+mj-lt"/>
              </a:rPr>
              <a:t> </a:t>
            </a:r>
            <a:endParaRPr lang="sk-SK" dirty="0"/>
          </a:p>
        </p:txBody>
      </p:sp>
      <p:sp>
        <p:nvSpPr>
          <p:cNvPr id="3" name="Zástupný objekt pre obsah 2">
            <a:extLst>
              <a:ext uri="{FF2B5EF4-FFF2-40B4-BE49-F238E27FC236}">
                <a16:creationId xmlns:a16="http://schemas.microsoft.com/office/drawing/2014/main" id="{28FD34A3-5321-15E7-4608-C0AC5CE83147}"/>
              </a:ext>
            </a:extLst>
          </p:cNvPr>
          <p:cNvSpPr>
            <a:spLocks noGrp="1"/>
          </p:cNvSpPr>
          <p:nvPr>
            <p:ph idx="1"/>
          </p:nvPr>
        </p:nvSpPr>
        <p:spPr>
          <a:xfrm>
            <a:off x="1115568" y="2412976"/>
            <a:ext cx="10168128" cy="3796395"/>
          </a:xfrm>
        </p:spPr>
        <p:txBody>
          <a:bodyPr vert="horz" lIns="91440" tIns="45720" rIns="91440" bIns="45720" rtlCol="0" anchor="t">
            <a:normAutofit fontScale="92500" lnSpcReduction="10000"/>
          </a:bodyPr>
          <a:lstStyle/>
          <a:p>
            <a:r>
              <a:rPr lang="sk-SK" sz="1800" b="1">
                <a:solidFill>
                  <a:srgbClr val="252525"/>
                </a:solidFill>
                <a:latin typeface="Arial"/>
                <a:ea typeface="Roboto"/>
                <a:cs typeface="Arial"/>
              </a:rPr>
              <a:t>Problém: </a:t>
            </a:r>
            <a:r>
              <a:rPr lang="sk-SK" sz="1800">
                <a:solidFill>
                  <a:srgbClr val="252525"/>
                </a:solidFill>
                <a:latin typeface="Arial"/>
                <a:ea typeface="Roboto"/>
                <a:cs typeface="Arial"/>
              </a:rPr>
              <a:t>V dnešnej dobre, keď každý deň pribúda veľké množstvo článkov vzniká problém ich manualne overovať expertmi. Preto je vhodné mať nejaký systém, ktorý by to overoval manualne. Problém priraďovania citácií, teda schopnosť systémov identifikovať presný názov vedeckého dokumentu na základe konkrétneho textového </a:t>
            </a:r>
            <a:r>
              <a:rPr lang="sk-SK" sz="1800" dirty="0">
                <a:solidFill>
                  <a:srgbClr val="252525"/>
                </a:solidFill>
                <a:latin typeface="Arial"/>
                <a:ea typeface="Roboto"/>
                <a:cs typeface="Arial"/>
              </a:rPr>
              <a:t>úryvku.</a:t>
            </a:r>
          </a:p>
          <a:p>
            <a:r>
              <a:rPr lang="sk-SK" sz="1800" b="1">
                <a:solidFill>
                  <a:srgbClr val="252525"/>
                </a:solidFill>
                <a:latin typeface="Arial"/>
                <a:ea typeface="Roboto"/>
                <a:cs typeface="Arial"/>
              </a:rPr>
              <a:t>Výsledky:</a:t>
            </a:r>
          </a:p>
          <a:p>
            <a:pPr lvl="1"/>
            <a:r>
              <a:rPr lang="sk-SK" sz="1800">
                <a:solidFill>
                  <a:srgbClr val="252525"/>
                </a:solidFill>
                <a:latin typeface="Arial"/>
                <a:ea typeface="Roboto"/>
                <a:cs typeface="Arial"/>
              </a:rPr>
              <a:t>Benchmark CiteME: 130 manuálne kurátorovaných otázok pre expertov; ľudský výkon je 69,7%.</a:t>
            </a:r>
            <a:endParaRPr lang="sk-SK" sz="1800">
              <a:latin typeface="Arial"/>
              <a:cs typeface="Arial"/>
            </a:endParaRPr>
          </a:p>
          <a:p>
            <a:pPr lvl="1"/>
            <a:r>
              <a:rPr lang="sk-SK" sz="1800">
                <a:solidFill>
                  <a:srgbClr val="252525"/>
                </a:solidFill>
                <a:latin typeface="Arial"/>
                <a:ea typeface="Roboto"/>
                <a:cs typeface="Arial"/>
              </a:rPr>
              <a:t>CiteAgent: Agent využívajúci Semantic Scholar na vyhľadávanie a čítanie plných textov PDF.</a:t>
            </a:r>
          </a:p>
          <a:p>
            <a:pPr lvl="1"/>
            <a:r>
              <a:rPr lang="sk-SK" sz="1800">
                <a:solidFill>
                  <a:srgbClr val="252525"/>
                </a:solidFill>
                <a:latin typeface="Arial"/>
                <a:ea typeface="Roboto"/>
                <a:cs typeface="Arial"/>
              </a:rPr>
              <a:t>Najlepší model (o1-preview) dosiahol 61,3 %, bežný GPT-4o len 35,3 %.</a:t>
            </a:r>
          </a:p>
          <a:p>
            <a:pPr lvl="1"/>
            <a:r>
              <a:rPr lang="sk-SK" sz="1800">
                <a:solidFill>
                  <a:srgbClr val="252525"/>
                </a:solidFill>
                <a:latin typeface="Arial"/>
                <a:ea typeface="Roboto"/>
                <a:cs typeface="Arial"/>
              </a:rPr>
              <a:t>Hlavná chyba (50 %): Nepochopenie úryvku alebo zameranie sa na nesprávny detail</a:t>
            </a:r>
          </a:p>
          <a:p>
            <a:r>
              <a:rPr lang="sk-SK" sz="1800" b="1">
                <a:latin typeface="Arial"/>
                <a:cs typeface="Arial"/>
              </a:rPr>
              <a:t>Záver: </a:t>
            </a:r>
            <a:r>
              <a:rPr lang="sk-SK" sz="1800">
                <a:solidFill>
                  <a:srgbClr val="252525"/>
                </a:solidFill>
                <a:latin typeface="Arial"/>
                <a:ea typeface="Roboto"/>
                <a:cs typeface="Arial"/>
              </a:rPr>
              <a:t>Benchmark CiteME preukázal, že súčasné LLM výrazne zaostávajú za ľuďmi v priraďovaní citácií, pričom najlepšie systémy dosahujú úspešnosť len 35 – 61 % oproti ľudským ~70 %. Hlavným problémom je neschopnosť modelov správne interpretovať kontext úryvku.</a:t>
            </a:r>
            <a:endParaRPr lang="sk-SK" sz="1800" dirty="0">
              <a:solidFill>
                <a:srgbClr val="252525"/>
              </a:solidFill>
              <a:latin typeface="Arial"/>
              <a:ea typeface="Roboto"/>
              <a:cs typeface="Arial"/>
            </a:endParaRPr>
          </a:p>
        </p:txBody>
      </p:sp>
    </p:spTree>
    <p:extLst>
      <p:ext uri="{BB962C8B-B14F-4D97-AF65-F5344CB8AC3E}">
        <p14:creationId xmlns:p14="http://schemas.microsoft.com/office/powerpoint/2010/main" val="15057482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F46957C-4742-3227-C251-214CC8C358B3}"/>
              </a:ext>
            </a:extLst>
          </p:cNvPr>
          <p:cNvSpPr>
            <a:spLocks noGrp="1"/>
          </p:cNvSpPr>
          <p:nvPr>
            <p:ph type="title"/>
          </p:nvPr>
        </p:nvSpPr>
        <p:spPr/>
        <p:txBody>
          <a:bodyPr/>
          <a:lstStyle/>
          <a:p>
            <a:r>
              <a:rPr lang="sk-SK" sz="2400" b="1" i="1">
                <a:latin typeface="Arial"/>
                <a:cs typeface="Arial"/>
              </a:rPr>
              <a:t>Článok</a:t>
            </a:r>
            <a:r>
              <a:rPr lang="sk-SK" sz="2400" i="1">
                <a:latin typeface="Arial"/>
                <a:cs typeface="Arial"/>
              </a:rPr>
              <a:t>: </a:t>
            </a:r>
            <a:r>
              <a:rPr lang="sk-SK" sz="2400" i="1">
                <a:latin typeface="Arial"/>
                <a:ea typeface="+mj-lt"/>
                <a:cs typeface="Arial"/>
              </a:rPr>
              <a:t>Zero-shot Scientific Claim Verification Using LLMs and Citation Text</a:t>
            </a:r>
            <a:endParaRPr lang="sk-SK" sz="2400" i="1">
              <a:latin typeface="Arial"/>
              <a:cs typeface="Arial"/>
            </a:endParaRPr>
          </a:p>
        </p:txBody>
      </p:sp>
      <p:sp>
        <p:nvSpPr>
          <p:cNvPr id="3" name="Zástupný objekt pre obsah 2">
            <a:extLst>
              <a:ext uri="{FF2B5EF4-FFF2-40B4-BE49-F238E27FC236}">
                <a16:creationId xmlns:a16="http://schemas.microsoft.com/office/drawing/2014/main" id="{6266449B-69E1-4503-3380-4096B48BC7CE}"/>
              </a:ext>
            </a:extLst>
          </p:cNvPr>
          <p:cNvSpPr>
            <a:spLocks noGrp="1"/>
          </p:cNvSpPr>
          <p:nvPr>
            <p:ph idx="1"/>
          </p:nvPr>
        </p:nvSpPr>
        <p:spPr/>
        <p:txBody>
          <a:bodyPr vert="horz" lIns="91440" tIns="45720" rIns="91440" bIns="45720" rtlCol="0" anchor="t">
            <a:normAutofit/>
          </a:bodyPr>
          <a:lstStyle/>
          <a:p>
            <a:r>
              <a:rPr lang="sk-SK" sz="1800" b="1">
                <a:latin typeface="Arial"/>
                <a:cs typeface="Arial"/>
              </a:rPr>
              <a:t>Problém</a:t>
            </a:r>
            <a:r>
              <a:rPr lang="sk-SK" sz="1800" b="1"/>
              <a:t>:</a:t>
            </a:r>
            <a:r>
              <a:rPr lang="sk-SK" dirty="0"/>
              <a:t> </a:t>
            </a:r>
            <a:r>
              <a:rPr lang="sk-SK" sz="1800">
                <a:solidFill>
                  <a:srgbClr val="252525"/>
                </a:solidFill>
                <a:latin typeface="Arial"/>
                <a:ea typeface="Roboto"/>
                <a:cs typeface="Arial"/>
              </a:rPr>
              <a:t>Manuálna anotácia vedeckých dát expertmi je extrémne nákladná a neškálovateľná. Autori hľadajú spôsob, ako overovať tvrdenia pomocou LLM a citácií priamo z literatúry bez potreby prepisovania textov ľuďmi.</a:t>
            </a:r>
            <a:endParaRPr lang="sk-SK"/>
          </a:p>
          <a:p>
            <a:r>
              <a:rPr lang="sk-SK" sz="1800" b="1">
                <a:latin typeface="Arial"/>
                <a:cs typeface="Arial"/>
              </a:rPr>
              <a:t>Riešenie: </a:t>
            </a:r>
            <a:r>
              <a:rPr lang="sk-SK" sz="1800">
                <a:solidFill>
                  <a:srgbClr val="252525"/>
                </a:solidFill>
                <a:latin typeface="Arial"/>
                <a:ea typeface="Roboto"/>
                <a:cs typeface="Arial"/>
              </a:rPr>
              <a:t>Vytvorenie datasetu SCitance, ktorý namiesto umelých tvrdení využíva autentické citačné vety. Využitie GPT-3.5 na generovanie prirodzených negácií a testovanie GPT-4 v zero-shot režime (bez predchádzajúceho trénovania) a few-shot režime </a:t>
            </a:r>
            <a:r>
              <a:rPr lang="sk-SK" sz="1800">
                <a:solidFill>
                  <a:srgbClr val="252525"/>
                </a:solidFill>
                <a:ea typeface="+mn-lt"/>
                <a:cs typeface="+mn-lt"/>
              </a:rPr>
              <a:t>(In-Context Learning)</a:t>
            </a:r>
            <a:endParaRPr lang="sk-SK" sz="1800" dirty="0">
              <a:solidFill>
                <a:srgbClr val="252525"/>
              </a:solidFill>
              <a:latin typeface="Arial"/>
              <a:ea typeface="Roboto"/>
              <a:cs typeface="Arial"/>
            </a:endParaRPr>
          </a:p>
          <a:p>
            <a:r>
              <a:rPr lang="en-US" sz="1800" b="1" dirty="0" err="1">
                <a:latin typeface="Arial"/>
                <a:cs typeface="Arial"/>
              </a:rPr>
              <a:t>Záver</a:t>
            </a:r>
            <a:r>
              <a:rPr lang="en-US" sz="1800" b="1" dirty="0">
                <a:latin typeface="Arial"/>
                <a:cs typeface="Arial"/>
              </a:rPr>
              <a:t>:</a:t>
            </a:r>
            <a:r>
              <a:rPr lang="en-US" dirty="0"/>
              <a:t> </a:t>
            </a:r>
            <a:r>
              <a:rPr lang="en-US" sz="1800" dirty="0">
                <a:solidFill>
                  <a:srgbClr val="252525"/>
                </a:solidFill>
                <a:latin typeface="Arial"/>
                <a:ea typeface="Roboto"/>
                <a:cs typeface="Arial"/>
              </a:rPr>
              <a:t>GPT-4 (80,1 F1) v zero-shot </a:t>
            </a:r>
            <a:r>
              <a:rPr lang="en-US" sz="1800" dirty="0" err="1">
                <a:solidFill>
                  <a:srgbClr val="252525"/>
                </a:solidFill>
                <a:latin typeface="Arial"/>
                <a:ea typeface="Roboto"/>
                <a:cs typeface="Arial"/>
              </a:rPr>
              <a:t>nastavení</a:t>
            </a:r>
            <a:r>
              <a:rPr lang="en-US" sz="1800" dirty="0">
                <a:solidFill>
                  <a:srgbClr val="252525"/>
                </a:solidFill>
                <a:latin typeface="Arial"/>
                <a:ea typeface="Roboto"/>
                <a:cs typeface="Arial"/>
              </a:rPr>
              <a:t> </a:t>
            </a:r>
            <a:r>
              <a:rPr lang="en-US" sz="1800" dirty="0" err="1">
                <a:solidFill>
                  <a:srgbClr val="252525"/>
                </a:solidFill>
                <a:latin typeface="Arial"/>
                <a:ea typeface="Roboto"/>
                <a:cs typeface="Arial"/>
              </a:rPr>
              <a:t>prekonal</a:t>
            </a:r>
            <a:r>
              <a:rPr lang="en-US" sz="1800" dirty="0">
                <a:solidFill>
                  <a:srgbClr val="252525"/>
                </a:solidFill>
                <a:latin typeface="Arial"/>
                <a:ea typeface="Roboto"/>
                <a:cs typeface="Arial"/>
              </a:rPr>
              <a:t> </a:t>
            </a:r>
            <a:r>
              <a:rPr lang="en-US" sz="1800" dirty="0" err="1">
                <a:solidFill>
                  <a:srgbClr val="252525"/>
                </a:solidFill>
                <a:latin typeface="Arial"/>
                <a:ea typeface="Roboto"/>
                <a:cs typeface="Arial"/>
              </a:rPr>
              <a:t>špecializované</a:t>
            </a:r>
            <a:r>
              <a:rPr lang="en-US" sz="1800" dirty="0">
                <a:solidFill>
                  <a:srgbClr val="252525"/>
                </a:solidFill>
                <a:latin typeface="Arial"/>
                <a:ea typeface="Roboto"/>
                <a:cs typeface="Arial"/>
              </a:rPr>
              <a:t> </a:t>
            </a:r>
            <a:r>
              <a:rPr lang="en-US" sz="1800" dirty="0" err="1">
                <a:solidFill>
                  <a:srgbClr val="252525"/>
                </a:solidFill>
                <a:latin typeface="Arial"/>
                <a:ea typeface="Roboto"/>
                <a:cs typeface="Arial"/>
              </a:rPr>
              <a:t>modely</a:t>
            </a:r>
            <a:r>
              <a:rPr lang="en-US" sz="1800" dirty="0">
                <a:solidFill>
                  <a:srgbClr val="252525"/>
                </a:solidFill>
                <a:latin typeface="Arial"/>
                <a:ea typeface="Roboto"/>
                <a:cs typeface="Arial"/>
              </a:rPr>
              <a:t> (</a:t>
            </a:r>
            <a:r>
              <a:rPr lang="en-US" sz="1800" dirty="0" err="1">
                <a:solidFill>
                  <a:srgbClr val="252525"/>
                </a:solidFill>
                <a:latin typeface="Arial"/>
                <a:ea typeface="Roboto"/>
                <a:cs typeface="Arial"/>
              </a:rPr>
              <a:t>napr</a:t>
            </a:r>
            <a:r>
              <a:rPr lang="en-US" sz="1800" dirty="0">
                <a:solidFill>
                  <a:srgbClr val="252525"/>
                </a:solidFill>
                <a:latin typeface="Arial"/>
                <a:ea typeface="Roboto"/>
                <a:cs typeface="Arial"/>
              </a:rPr>
              <a:t>. </a:t>
            </a:r>
            <a:r>
              <a:rPr lang="en-US" sz="1800" dirty="0" err="1">
                <a:solidFill>
                  <a:srgbClr val="252525"/>
                </a:solidFill>
                <a:latin typeface="Arial"/>
                <a:ea typeface="Roboto"/>
                <a:cs typeface="Arial"/>
              </a:rPr>
              <a:t>MultiVerS</a:t>
            </a:r>
            <a:r>
              <a:rPr lang="en-US" sz="1800" dirty="0">
                <a:solidFill>
                  <a:srgbClr val="252525"/>
                </a:solidFill>
                <a:latin typeface="Arial"/>
                <a:ea typeface="Roboto"/>
                <a:cs typeface="Arial"/>
              </a:rPr>
              <a:t>). </a:t>
            </a:r>
            <a:r>
              <a:rPr lang="en-US" sz="1800" dirty="0" err="1">
                <a:solidFill>
                  <a:srgbClr val="252525"/>
                </a:solidFill>
                <a:latin typeface="Arial"/>
                <a:ea typeface="Roboto"/>
                <a:cs typeface="Arial"/>
              </a:rPr>
              <a:t>Citačný</a:t>
            </a:r>
            <a:r>
              <a:rPr lang="en-US" sz="1800" dirty="0">
                <a:solidFill>
                  <a:srgbClr val="252525"/>
                </a:solidFill>
                <a:latin typeface="Arial"/>
                <a:ea typeface="Roboto"/>
                <a:cs typeface="Arial"/>
              </a:rPr>
              <a:t> text </a:t>
            </a:r>
            <a:r>
              <a:rPr lang="en-US" sz="1800" dirty="0" err="1">
                <a:solidFill>
                  <a:srgbClr val="252525"/>
                </a:solidFill>
                <a:latin typeface="Arial"/>
                <a:ea typeface="Roboto"/>
                <a:cs typeface="Arial"/>
              </a:rPr>
              <a:t>predstavuje</a:t>
            </a:r>
            <a:r>
              <a:rPr lang="en-US" sz="1800" dirty="0">
                <a:solidFill>
                  <a:srgbClr val="252525"/>
                </a:solidFill>
                <a:latin typeface="Arial"/>
                <a:ea typeface="Roboto"/>
                <a:cs typeface="Arial"/>
              </a:rPr>
              <a:t> </a:t>
            </a:r>
            <a:r>
              <a:rPr lang="en-US" sz="1800" dirty="0" err="1">
                <a:solidFill>
                  <a:srgbClr val="252525"/>
                </a:solidFill>
                <a:latin typeface="Arial"/>
                <a:ea typeface="Roboto"/>
                <a:cs typeface="Arial"/>
              </a:rPr>
              <a:t>vysoko</a:t>
            </a:r>
            <a:r>
              <a:rPr lang="en-US" sz="1800" dirty="0">
                <a:solidFill>
                  <a:srgbClr val="252525"/>
                </a:solidFill>
                <a:latin typeface="Arial"/>
                <a:ea typeface="Roboto"/>
                <a:cs typeface="Arial"/>
              </a:rPr>
              <a:t> </a:t>
            </a:r>
            <a:r>
              <a:rPr lang="en-US" sz="1800" dirty="0" err="1">
                <a:solidFill>
                  <a:srgbClr val="252525"/>
                </a:solidFill>
                <a:latin typeface="Arial"/>
                <a:ea typeface="Roboto"/>
                <a:cs typeface="Arial"/>
              </a:rPr>
              <a:t>efektívnu</a:t>
            </a:r>
            <a:r>
              <a:rPr lang="en-US" sz="1800" dirty="0">
                <a:solidFill>
                  <a:srgbClr val="252525"/>
                </a:solidFill>
                <a:latin typeface="Arial"/>
                <a:ea typeface="Roboto"/>
                <a:cs typeface="Arial"/>
              </a:rPr>
              <a:t> a </a:t>
            </a:r>
            <a:r>
              <a:rPr lang="en-US" sz="1800" dirty="0" err="1">
                <a:solidFill>
                  <a:srgbClr val="252525"/>
                </a:solidFill>
                <a:latin typeface="Arial"/>
                <a:ea typeface="Roboto"/>
                <a:cs typeface="Arial"/>
              </a:rPr>
              <a:t>lacnú</a:t>
            </a:r>
            <a:r>
              <a:rPr lang="en-US" sz="1800" dirty="0">
                <a:solidFill>
                  <a:srgbClr val="252525"/>
                </a:solidFill>
                <a:latin typeface="Arial"/>
                <a:ea typeface="Roboto"/>
                <a:cs typeface="Arial"/>
              </a:rPr>
              <a:t> </a:t>
            </a:r>
            <a:r>
              <a:rPr lang="en-US" sz="1800" dirty="0" err="1">
                <a:solidFill>
                  <a:srgbClr val="252525"/>
                </a:solidFill>
                <a:latin typeface="Arial"/>
                <a:ea typeface="Roboto"/>
                <a:cs typeface="Arial"/>
              </a:rPr>
              <a:t>alternatívu</a:t>
            </a:r>
            <a:r>
              <a:rPr lang="en-US" sz="1800" dirty="0">
                <a:solidFill>
                  <a:srgbClr val="252525"/>
                </a:solidFill>
                <a:latin typeface="Arial"/>
                <a:ea typeface="Roboto"/>
                <a:cs typeface="Arial"/>
              </a:rPr>
              <a:t> k </a:t>
            </a:r>
            <a:r>
              <a:rPr lang="en-US" sz="1800" dirty="0" err="1">
                <a:solidFill>
                  <a:srgbClr val="252525"/>
                </a:solidFill>
                <a:latin typeface="Arial"/>
                <a:ea typeface="Roboto"/>
                <a:cs typeface="Arial"/>
              </a:rPr>
              <a:t>manuálnej</a:t>
            </a:r>
            <a:r>
              <a:rPr lang="en-US" sz="1800" dirty="0">
                <a:solidFill>
                  <a:srgbClr val="252525"/>
                </a:solidFill>
                <a:latin typeface="Arial"/>
                <a:ea typeface="Roboto"/>
                <a:cs typeface="Arial"/>
              </a:rPr>
              <a:t> </a:t>
            </a:r>
            <a:r>
              <a:rPr lang="en-US" sz="1800" dirty="0" err="1">
                <a:solidFill>
                  <a:srgbClr val="252525"/>
                </a:solidFill>
                <a:latin typeface="Arial"/>
                <a:ea typeface="Roboto"/>
                <a:cs typeface="Arial"/>
              </a:rPr>
              <a:t>expertnej</a:t>
            </a:r>
            <a:r>
              <a:rPr lang="en-US" sz="1800" dirty="0">
                <a:solidFill>
                  <a:srgbClr val="252525"/>
                </a:solidFill>
                <a:latin typeface="Arial"/>
                <a:ea typeface="Roboto"/>
                <a:cs typeface="Arial"/>
              </a:rPr>
              <a:t> </a:t>
            </a:r>
            <a:r>
              <a:rPr lang="en-US" sz="1800" dirty="0" err="1">
                <a:solidFill>
                  <a:srgbClr val="252525"/>
                </a:solidFill>
                <a:latin typeface="Arial"/>
                <a:ea typeface="Roboto"/>
                <a:cs typeface="Arial"/>
              </a:rPr>
              <a:t>anotácii</a:t>
            </a:r>
            <a:r>
              <a:rPr lang="en-US" sz="1800" dirty="0">
                <a:solidFill>
                  <a:srgbClr val="252525"/>
                </a:solidFill>
                <a:latin typeface="Arial"/>
                <a:ea typeface="Roboto"/>
                <a:cs typeface="Arial"/>
              </a:rPr>
              <a:t>.</a:t>
            </a:r>
            <a:br>
              <a:rPr lang="en-US" dirty="0"/>
            </a:br>
            <a:endParaRPr lang="en-US"/>
          </a:p>
        </p:txBody>
      </p:sp>
    </p:spTree>
    <p:extLst>
      <p:ext uri="{BB962C8B-B14F-4D97-AF65-F5344CB8AC3E}">
        <p14:creationId xmlns:p14="http://schemas.microsoft.com/office/powerpoint/2010/main" val="33461658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DB55B95-1454-D319-F36F-1138D00E0D83}"/>
              </a:ext>
            </a:extLst>
          </p:cNvPr>
          <p:cNvSpPr>
            <a:spLocks noGrp="1"/>
          </p:cNvSpPr>
          <p:nvPr>
            <p:ph type="title"/>
          </p:nvPr>
        </p:nvSpPr>
        <p:spPr/>
        <p:txBody>
          <a:bodyPr/>
          <a:lstStyle/>
          <a:p>
            <a:r>
              <a:rPr lang="sk-SK" dirty="0">
                <a:latin typeface="Arial"/>
                <a:cs typeface="Arial"/>
              </a:rPr>
              <a:t>Výzvy pri extrakcii citácií</a:t>
            </a:r>
          </a:p>
        </p:txBody>
      </p:sp>
      <p:sp>
        <p:nvSpPr>
          <p:cNvPr id="3" name="Zástupný objekt pre obsah 2">
            <a:extLst>
              <a:ext uri="{FF2B5EF4-FFF2-40B4-BE49-F238E27FC236}">
                <a16:creationId xmlns:a16="http://schemas.microsoft.com/office/drawing/2014/main" id="{DD61D933-C599-9D6A-0414-68DB531454B7}"/>
              </a:ext>
            </a:extLst>
          </p:cNvPr>
          <p:cNvSpPr>
            <a:spLocks noGrp="1"/>
          </p:cNvSpPr>
          <p:nvPr>
            <p:ph idx="1"/>
          </p:nvPr>
        </p:nvSpPr>
        <p:spPr>
          <a:xfrm>
            <a:off x="1115568" y="2478024"/>
            <a:ext cx="10168128" cy="4010127"/>
          </a:xfrm>
        </p:spPr>
        <p:txBody>
          <a:bodyPr vert="horz" lIns="91440" tIns="45720" rIns="91440" bIns="45720" rtlCol="0" anchor="t">
            <a:normAutofit/>
          </a:bodyPr>
          <a:lstStyle/>
          <a:p>
            <a:r>
              <a:rPr lang="sk-SK" sz="1800" b="1">
                <a:latin typeface="Arial"/>
                <a:cs typeface="Arial"/>
              </a:rPr>
              <a:t>Príklady typov citácii:</a:t>
            </a:r>
            <a:endParaRPr lang="sk-SK" sz="1800" dirty="0">
              <a:solidFill>
                <a:srgbClr val="252525"/>
              </a:solidFill>
              <a:latin typeface="Arial"/>
              <a:ea typeface="Roboto"/>
              <a:cs typeface="Arial"/>
            </a:endParaRPr>
          </a:p>
          <a:p>
            <a:pPr lvl="1">
              <a:buFont typeface="Courier New" panose="020B0604020202020204" pitchFamily="34" charset="0"/>
              <a:buChar char="o"/>
            </a:pPr>
            <a:r>
              <a:rPr lang="sk-SK" sz="1400">
                <a:latin typeface="Arial"/>
                <a:cs typeface="Arial"/>
              </a:rPr>
              <a:t>Bez dokazu iba holý text:</a:t>
            </a:r>
          </a:p>
          <a:p>
            <a:endParaRPr lang="sk-SK" sz="1800" dirty="0">
              <a:latin typeface="Arial"/>
              <a:cs typeface="Arial"/>
            </a:endParaRPr>
          </a:p>
          <a:p>
            <a:pPr lvl="1">
              <a:buFont typeface="Courier New" panose="020B0604020202020204" pitchFamily="34" charset="0"/>
              <a:buChar char="o"/>
            </a:pPr>
            <a:endParaRPr lang="sk-SK" sz="1400" dirty="0">
              <a:latin typeface="Arial"/>
              <a:cs typeface="Arial"/>
            </a:endParaRPr>
          </a:p>
          <a:p>
            <a:pPr lvl="1">
              <a:buFont typeface="Courier New" panose="020B0604020202020204" pitchFamily="34" charset="0"/>
              <a:buChar char="o"/>
            </a:pPr>
            <a:r>
              <a:rPr lang="sk-SK" sz="1400">
                <a:latin typeface="Arial"/>
                <a:cs typeface="Arial"/>
              </a:rPr>
              <a:t>Text s odkazom na článok:</a:t>
            </a:r>
            <a:endParaRPr lang="sk-SK" sz="1400" dirty="0">
              <a:latin typeface="Arial"/>
              <a:cs typeface="Arial"/>
            </a:endParaRPr>
          </a:p>
          <a:p>
            <a:pPr lvl="1">
              <a:buFont typeface="Courier New" panose="020B0604020202020204" pitchFamily="34" charset="0"/>
              <a:buChar char="o"/>
            </a:pPr>
            <a:endParaRPr lang="sk-SK" sz="1400" dirty="0">
              <a:latin typeface="Arial"/>
              <a:cs typeface="Arial"/>
            </a:endParaRPr>
          </a:p>
          <a:p>
            <a:pPr lvl="1">
              <a:buFont typeface="Courier New" panose="020B0604020202020204" pitchFamily="34" charset="0"/>
              <a:buChar char="o"/>
            </a:pPr>
            <a:endParaRPr lang="sk-SK" sz="1400" dirty="0">
              <a:latin typeface="Arial"/>
              <a:cs typeface="Arial"/>
            </a:endParaRPr>
          </a:p>
          <a:p>
            <a:pPr lvl="1">
              <a:buFont typeface="Courier New" panose="020B0604020202020204" pitchFamily="34" charset="0"/>
              <a:buChar char="o"/>
            </a:pPr>
            <a:r>
              <a:rPr lang="sk-SK" sz="1400">
                <a:latin typeface="Arial"/>
                <a:cs typeface="Arial"/>
              </a:rPr>
              <a:t>Iba číslo s odkazom:</a:t>
            </a:r>
          </a:p>
          <a:p>
            <a:pPr lvl="1">
              <a:buFont typeface="Courier New" panose="020B0604020202020204" pitchFamily="34" charset="0"/>
              <a:buChar char="o"/>
            </a:pPr>
            <a:endParaRPr lang="sk-SK" sz="1400" dirty="0">
              <a:latin typeface="Arial"/>
              <a:cs typeface="Arial"/>
            </a:endParaRPr>
          </a:p>
          <a:p>
            <a:pPr lvl="1">
              <a:buFont typeface="Courier New" panose="020B0604020202020204" pitchFamily="34" charset="0"/>
              <a:buChar char="o"/>
            </a:pPr>
            <a:r>
              <a:rPr lang="sk-SK" sz="1400">
                <a:latin typeface="Arial"/>
                <a:cs typeface="Arial"/>
              </a:rPr>
              <a:t>atď</a:t>
            </a:r>
            <a:endParaRPr lang="sk-SK" sz="1400" dirty="0">
              <a:latin typeface="Arial"/>
              <a:cs typeface="Arial"/>
            </a:endParaRPr>
          </a:p>
        </p:txBody>
      </p:sp>
      <p:pic>
        <p:nvPicPr>
          <p:cNvPr id="5" name="Obrázok 4" descr="Obrázok, na ktorom je text, písmo, rad, snímka obrazovky&#10;&#10;Obsah vygenerovaný pomocou AI môže byť nesprávny.">
            <a:extLst>
              <a:ext uri="{FF2B5EF4-FFF2-40B4-BE49-F238E27FC236}">
                <a16:creationId xmlns:a16="http://schemas.microsoft.com/office/drawing/2014/main" id="{A7020495-BE28-C44A-8033-BB5183C391AF}"/>
              </a:ext>
            </a:extLst>
          </p:cNvPr>
          <p:cNvPicPr>
            <a:picLocks noChangeAspect="1"/>
          </p:cNvPicPr>
          <p:nvPr/>
        </p:nvPicPr>
        <p:blipFill>
          <a:blip r:embed="rId2"/>
          <a:stretch>
            <a:fillRect/>
          </a:stretch>
        </p:blipFill>
        <p:spPr>
          <a:xfrm>
            <a:off x="2266950" y="3143250"/>
            <a:ext cx="7658100" cy="571500"/>
          </a:xfrm>
          <a:prstGeom prst="rect">
            <a:avLst/>
          </a:prstGeom>
        </p:spPr>
      </p:pic>
      <p:pic>
        <p:nvPicPr>
          <p:cNvPr id="6" name="Obrázok 5" descr="Obrázok, na ktorom je text, písmo, rad, snímka obrazovky&#10;&#10;Obsah vygenerovaný pomocou AI môže byť nesprávny.">
            <a:extLst>
              <a:ext uri="{FF2B5EF4-FFF2-40B4-BE49-F238E27FC236}">
                <a16:creationId xmlns:a16="http://schemas.microsoft.com/office/drawing/2014/main" id="{F569A3C0-FAE9-9D12-78C2-45E541B7F2A5}"/>
              </a:ext>
            </a:extLst>
          </p:cNvPr>
          <p:cNvPicPr>
            <a:picLocks noChangeAspect="1"/>
          </p:cNvPicPr>
          <p:nvPr/>
        </p:nvPicPr>
        <p:blipFill>
          <a:blip r:embed="rId3"/>
          <a:stretch>
            <a:fillRect/>
          </a:stretch>
        </p:blipFill>
        <p:spPr>
          <a:xfrm>
            <a:off x="4006773" y="4145698"/>
            <a:ext cx="3676650" cy="666750"/>
          </a:xfrm>
          <a:prstGeom prst="rect">
            <a:avLst/>
          </a:prstGeom>
        </p:spPr>
      </p:pic>
      <p:pic>
        <p:nvPicPr>
          <p:cNvPr id="7" name="Obrázok 6">
            <a:extLst>
              <a:ext uri="{FF2B5EF4-FFF2-40B4-BE49-F238E27FC236}">
                <a16:creationId xmlns:a16="http://schemas.microsoft.com/office/drawing/2014/main" id="{17054A2E-C442-9FF0-C41B-817B910ECEEF}"/>
              </a:ext>
            </a:extLst>
          </p:cNvPr>
          <p:cNvPicPr>
            <a:picLocks noChangeAspect="1"/>
          </p:cNvPicPr>
          <p:nvPr/>
        </p:nvPicPr>
        <p:blipFill>
          <a:blip r:embed="rId4"/>
          <a:stretch>
            <a:fillRect/>
          </a:stretch>
        </p:blipFill>
        <p:spPr>
          <a:xfrm>
            <a:off x="3049511" y="5140829"/>
            <a:ext cx="5591175" cy="219075"/>
          </a:xfrm>
          <a:prstGeom prst="rect">
            <a:avLst/>
          </a:prstGeom>
        </p:spPr>
      </p:pic>
    </p:spTree>
    <p:extLst>
      <p:ext uri="{BB962C8B-B14F-4D97-AF65-F5344CB8AC3E}">
        <p14:creationId xmlns:p14="http://schemas.microsoft.com/office/powerpoint/2010/main" val="16396134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15BD8A7F-42D3-D47A-51B9-7F3FA0F99745}"/>
              </a:ext>
            </a:extLst>
          </p:cNvPr>
          <p:cNvSpPr>
            <a:spLocks noGrp="1"/>
          </p:cNvSpPr>
          <p:nvPr>
            <p:ph type="title"/>
          </p:nvPr>
        </p:nvSpPr>
        <p:spPr/>
        <p:txBody>
          <a:bodyPr/>
          <a:lstStyle/>
          <a:p>
            <a:r>
              <a:rPr lang="sk-SK" dirty="0">
                <a:latin typeface="Arial"/>
                <a:cs typeface="Arial"/>
              </a:rPr>
              <a:t>Identifikované problémy</a:t>
            </a:r>
          </a:p>
        </p:txBody>
      </p:sp>
      <p:sp>
        <p:nvSpPr>
          <p:cNvPr id="3" name="Zástupný objekt pre obsah 2">
            <a:extLst>
              <a:ext uri="{FF2B5EF4-FFF2-40B4-BE49-F238E27FC236}">
                <a16:creationId xmlns:a16="http://schemas.microsoft.com/office/drawing/2014/main" id="{68AFC7D0-7BA3-7244-CCC7-68BC7B50D4EA}"/>
              </a:ext>
            </a:extLst>
          </p:cNvPr>
          <p:cNvSpPr>
            <a:spLocks noGrp="1"/>
          </p:cNvSpPr>
          <p:nvPr>
            <p:ph idx="1"/>
          </p:nvPr>
        </p:nvSpPr>
        <p:spPr/>
        <p:txBody>
          <a:bodyPr vert="horz" lIns="91440" tIns="45720" rIns="91440" bIns="45720" rtlCol="0" anchor="t">
            <a:normAutofit/>
          </a:bodyPr>
          <a:lstStyle/>
          <a:p>
            <a:r>
              <a:rPr lang="sk-SK" sz="1800" b="1">
                <a:solidFill>
                  <a:srgbClr val="252525"/>
                </a:solidFill>
                <a:latin typeface="Arial"/>
                <a:ea typeface="Roboto"/>
                <a:cs typeface="Arial"/>
              </a:rPr>
              <a:t>Absencia jednotného formátu:</a:t>
            </a:r>
            <a:r>
              <a:rPr lang="sk-SK" sz="1800">
                <a:solidFill>
                  <a:srgbClr val="252525"/>
                </a:solidFill>
                <a:latin typeface="Arial"/>
                <a:ea typeface="Roboto"/>
                <a:cs typeface="Arial"/>
              </a:rPr>
              <a:t> Neexistuje univerzálny citačný štýl, čo spôsobuje extrémnu rôznorodosť v zápise referencií.</a:t>
            </a:r>
          </a:p>
          <a:p>
            <a:r>
              <a:rPr lang="sk-SK" sz="1800" b="1">
                <a:solidFill>
                  <a:srgbClr val="252525"/>
                </a:solidFill>
                <a:latin typeface="Arial"/>
                <a:ea typeface="Roboto"/>
                <a:cs typeface="Arial"/>
              </a:rPr>
              <a:t>Nedostatočnosť manuálnych metód:</a:t>
            </a:r>
            <a:r>
              <a:rPr lang="sk-SK" sz="1800">
                <a:solidFill>
                  <a:srgbClr val="252525"/>
                </a:solidFill>
                <a:latin typeface="Arial"/>
                <a:ea typeface="Roboto"/>
                <a:cs typeface="Arial"/>
              </a:rPr>
              <a:t> Použitie regulárnych výrazov a iných manuálnych techník sa ukázalo ako neudržateľné. Kvôli variabilite textu nie je možné pomocou regexu dosiahnuť 100 % úspešnosť a vyžadovalo by to neustále dopĺňanie nekonečného množstva pravidiel.</a:t>
            </a:r>
          </a:p>
          <a:p>
            <a:endParaRPr lang="sk-SK" sz="1800" dirty="0">
              <a:solidFill>
                <a:srgbClr val="252525"/>
              </a:solidFill>
              <a:latin typeface="Arial"/>
              <a:ea typeface="Roboto"/>
              <a:cs typeface="Arial"/>
            </a:endParaRPr>
          </a:p>
        </p:txBody>
      </p:sp>
      <p:sp>
        <p:nvSpPr>
          <p:cNvPr id="4" name="Zástupný objekt pre dátum 3">
            <a:extLst>
              <a:ext uri="{FF2B5EF4-FFF2-40B4-BE49-F238E27FC236}">
                <a16:creationId xmlns:a16="http://schemas.microsoft.com/office/drawing/2014/main" id="{CF491BEB-E6D2-5139-9284-713490FB0B14}"/>
              </a:ext>
            </a:extLst>
          </p:cNvPr>
          <p:cNvSpPr>
            <a:spLocks noGrp="1"/>
          </p:cNvSpPr>
          <p:nvPr>
            <p:ph type="dt" sz="half" idx="10"/>
          </p:nvPr>
        </p:nvSpPr>
        <p:spPr/>
        <p:txBody>
          <a:bodyPr/>
          <a:lstStyle/>
          <a:p>
            <a:fld id="{1158EC6C-0396-4EEB-BA2C-872EEF5EDAD8}" type="datetime1">
              <a:t>14. 5. 2026</a:t>
            </a:fld>
            <a:endParaRPr lang="en-US" dirty="0"/>
          </a:p>
        </p:txBody>
      </p:sp>
      <p:sp>
        <p:nvSpPr>
          <p:cNvPr id="5" name="Zástupný objekt pre pätu 4">
            <a:extLst>
              <a:ext uri="{FF2B5EF4-FFF2-40B4-BE49-F238E27FC236}">
                <a16:creationId xmlns:a16="http://schemas.microsoft.com/office/drawing/2014/main" id="{943D9581-2E5C-27A4-E9D6-A3642DE9E70A}"/>
              </a:ext>
            </a:extLst>
          </p:cNvPr>
          <p:cNvSpPr>
            <a:spLocks noGrp="1"/>
          </p:cNvSpPr>
          <p:nvPr>
            <p:ph type="ftr" sz="quarter" idx="11"/>
          </p:nvPr>
        </p:nvSpPr>
        <p:spPr/>
        <p:txBody>
          <a:bodyPr/>
          <a:lstStyle/>
          <a:p>
            <a:endParaRPr lang="en-US" dirty="0"/>
          </a:p>
        </p:txBody>
      </p:sp>
      <p:sp>
        <p:nvSpPr>
          <p:cNvPr id="6" name="Zástupný objekt pre číslo snímky 5">
            <a:extLst>
              <a:ext uri="{FF2B5EF4-FFF2-40B4-BE49-F238E27FC236}">
                <a16:creationId xmlns:a16="http://schemas.microsoft.com/office/drawing/2014/main" id="{2A10D396-BA05-3FBB-5A2F-DFCCFE370805}"/>
              </a:ext>
            </a:extLst>
          </p:cNvPr>
          <p:cNvSpPr>
            <a:spLocks noGrp="1"/>
          </p:cNvSpPr>
          <p:nvPr>
            <p:ph type="sldNum" sz="quarter" idx="12"/>
          </p:nvPr>
        </p:nvSpPr>
        <p:spPr/>
        <p:txBody>
          <a:bodyPr/>
          <a:lstStyle/>
          <a:p>
            <a:fld id="{A65A5C87-DF58-40C8-B092-1DE63DB4547E}" type="slidenum">
              <a:rPr lang="en-US" dirty="0"/>
              <a:t>10</a:t>
            </a:fld>
            <a:endParaRPr lang="en-US" dirty="0"/>
          </a:p>
        </p:txBody>
      </p:sp>
    </p:spTree>
    <p:extLst>
      <p:ext uri="{BB962C8B-B14F-4D97-AF65-F5344CB8AC3E}">
        <p14:creationId xmlns:p14="http://schemas.microsoft.com/office/powerpoint/2010/main" val="10014254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0984EDF-45E3-7163-0BC3-8B4C48E15FC0}"/>
              </a:ext>
            </a:extLst>
          </p:cNvPr>
          <p:cNvSpPr>
            <a:spLocks noGrp="1"/>
          </p:cNvSpPr>
          <p:nvPr>
            <p:ph type="title"/>
          </p:nvPr>
        </p:nvSpPr>
        <p:spPr/>
        <p:txBody>
          <a:bodyPr/>
          <a:lstStyle/>
          <a:p>
            <a:r>
              <a:rPr lang="sk-SK" dirty="0">
                <a:latin typeface="Arial" panose="020B0604020202020204" pitchFamily="34" charset="0"/>
                <a:cs typeface="Arial" panose="020B0604020202020204" pitchFamily="34" charset="0"/>
              </a:rPr>
              <a:t>Riešenie</a:t>
            </a:r>
          </a:p>
        </p:txBody>
      </p:sp>
      <p:sp>
        <p:nvSpPr>
          <p:cNvPr id="3" name="Zástupný objekt pre obsah 2">
            <a:extLst>
              <a:ext uri="{FF2B5EF4-FFF2-40B4-BE49-F238E27FC236}">
                <a16:creationId xmlns:a16="http://schemas.microsoft.com/office/drawing/2014/main" id="{CE11FE58-297A-5118-DC42-3826D8209FF1}"/>
              </a:ext>
            </a:extLst>
          </p:cNvPr>
          <p:cNvSpPr>
            <a:spLocks noGrp="1"/>
          </p:cNvSpPr>
          <p:nvPr>
            <p:ph idx="1"/>
          </p:nvPr>
        </p:nvSpPr>
        <p:spPr/>
        <p:txBody>
          <a:bodyPr vert="horz" lIns="91440" tIns="45720" rIns="91440" bIns="45720" rtlCol="0" anchor="t">
            <a:normAutofit/>
          </a:bodyPr>
          <a:lstStyle/>
          <a:p>
            <a:r>
              <a:rPr lang="sk-SK" sz="1800">
                <a:solidFill>
                  <a:srgbClr val="252525"/>
                </a:solidFill>
                <a:latin typeface="Arial"/>
                <a:ea typeface="Roboto"/>
                <a:cs typeface="Arial"/>
              </a:rPr>
              <a:t>Prechod od manuálnych pravidiel k modelom strojového učenia (ML).</a:t>
            </a:r>
          </a:p>
          <a:p>
            <a:r>
              <a:rPr lang="sk-SK" sz="1800">
                <a:solidFill>
                  <a:srgbClr val="252525"/>
                </a:solidFill>
                <a:latin typeface="Arial"/>
                <a:ea typeface="Roboto"/>
                <a:cs typeface="Arial"/>
              </a:rPr>
              <a:t>Keďže sme zistili, že regulárne výrazy (regex) sú nepostačujúce kvôli variabilite formátov, bude potrebne použiť nejaký model strojového učenia (ML).</a:t>
            </a:r>
            <a:endParaRPr lang="sk-SK" sz="1800">
              <a:solidFill>
                <a:srgbClr val="000000"/>
              </a:solidFill>
              <a:latin typeface="Arial"/>
              <a:ea typeface="Roboto"/>
              <a:cs typeface="Arial"/>
            </a:endParaRPr>
          </a:p>
          <a:p>
            <a:r>
              <a:rPr lang="sk-SK" sz="1800">
                <a:solidFill>
                  <a:srgbClr val="252525"/>
                </a:solidFill>
                <a:latin typeface="Arial"/>
                <a:ea typeface="Roboto"/>
                <a:cs typeface="Arial"/>
              </a:rPr>
              <a:t>GROBID: Tento nástroj využíva modely strojového učenia na segmentáciu textu. Dokáže identifikovať nielen zoznam literatúry, ale aj citačné kotvy (anchors) priamo v tele textu, čo je kľúčové pre tvoj cieľ sémantického overovania.</a:t>
            </a:r>
          </a:p>
          <a:p>
            <a:r>
              <a:rPr lang="sk-SK" sz="1800">
                <a:solidFill>
                  <a:srgbClr val="252525"/>
                </a:solidFill>
                <a:latin typeface="Arial"/>
                <a:ea typeface="Roboto"/>
                <a:cs typeface="Arial"/>
              </a:rPr>
              <a:t>Pri extrakcii musíme myslieť aj na limity, ktoré sa uvádzajú v článku </a:t>
            </a:r>
            <a:r>
              <a:rPr lang="sk-SK" sz="1800" i="1">
                <a:solidFill>
                  <a:srgbClr val="252525"/>
                </a:solidFill>
                <a:latin typeface="Arial"/>
                <a:ea typeface="Roboto"/>
                <a:cs typeface="Arial"/>
              </a:rPr>
              <a:t>A pipeline for matching bibliographic references with incomplete metadata: experiments with Crossref and OpenCitations </a:t>
            </a:r>
            <a:r>
              <a:rPr lang="sk-SK" sz="1800">
                <a:solidFill>
                  <a:srgbClr val="252525"/>
                </a:solidFill>
                <a:latin typeface="Arial"/>
                <a:ea typeface="Roboto"/>
                <a:cs typeface="Arial"/>
              </a:rPr>
              <a:t>a brať ich do úvahy.</a:t>
            </a:r>
          </a:p>
          <a:p>
            <a:endParaRPr lang="sk-SK" dirty="0"/>
          </a:p>
        </p:txBody>
      </p:sp>
      <p:sp>
        <p:nvSpPr>
          <p:cNvPr id="4" name="Zástupný objekt pre dátum 3">
            <a:extLst>
              <a:ext uri="{FF2B5EF4-FFF2-40B4-BE49-F238E27FC236}">
                <a16:creationId xmlns:a16="http://schemas.microsoft.com/office/drawing/2014/main" id="{533FB5D2-E1CB-821E-FB70-1D20EC483DBD}"/>
              </a:ext>
            </a:extLst>
          </p:cNvPr>
          <p:cNvSpPr>
            <a:spLocks noGrp="1"/>
          </p:cNvSpPr>
          <p:nvPr>
            <p:ph type="dt" sz="half" idx="10"/>
          </p:nvPr>
        </p:nvSpPr>
        <p:spPr/>
        <p:txBody>
          <a:bodyPr/>
          <a:lstStyle/>
          <a:p>
            <a:fld id="{419E9741-8BD5-4410-BFDE-29F25ED58CD5}" type="datetime1">
              <a:t>14. 5. 2026</a:t>
            </a:fld>
            <a:endParaRPr lang="en-US" dirty="0"/>
          </a:p>
        </p:txBody>
      </p:sp>
      <p:sp>
        <p:nvSpPr>
          <p:cNvPr id="5" name="Zástupný objekt pre pätu 4">
            <a:extLst>
              <a:ext uri="{FF2B5EF4-FFF2-40B4-BE49-F238E27FC236}">
                <a16:creationId xmlns:a16="http://schemas.microsoft.com/office/drawing/2014/main" id="{8203F701-8ACB-3950-6AC7-E0A7AAB6D58F}"/>
              </a:ext>
            </a:extLst>
          </p:cNvPr>
          <p:cNvSpPr>
            <a:spLocks noGrp="1"/>
          </p:cNvSpPr>
          <p:nvPr>
            <p:ph type="ftr" sz="quarter" idx="11"/>
          </p:nvPr>
        </p:nvSpPr>
        <p:spPr/>
        <p:txBody>
          <a:bodyPr/>
          <a:lstStyle/>
          <a:p>
            <a:endParaRPr lang="en-US" dirty="0"/>
          </a:p>
        </p:txBody>
      </p:sp>
      <p:sp>
        <p:nvSpPr>
          <p:cNvPr id="6" name="Zástupný objekt pre číslo snímky 5">
            <a:extLst>
              <a:ext uri="{FF2B5EF4-FFF2-40B4-BE49-F238E27FC236}">
                <a16:creationId xmlns:a16="http://schemas.microsoft.com/office/drawing/2014/main" id="{8716E3BE-7AE9-A131-5F85-3A0290ABCB48}"/>
              </a:ext>
            </a:extLst>
          </p:cNvPr>
          <p:cNvSpPr>
            <a:spLocks noGrp="1"/>
          </p:cNvSpPr>
          <p:nvPr>
            <p:ph type="sldNum" sz="quarter" idx="12"/>
          </p:nvPr>
        </p:nvSpPr>
        <p:spPr/>
        <p:txBody>
          <a:bodyPr/>
          <a:lstStyle/>
          <a:p>
            <a:fld id="{A65A5C87-DF58-40C8-B092-1DE63DB4547E}" type="slidenum">
              <a:rPr lang="en-US" dirty="0"/>
              <a:t>11</a:t>
            </a:fld>
            <a:endParaRPr lang="en-US" dirty="0"/>
          </a:p>
        </p:txBody>
      </p:sp>
    </p:spTree>
    <p:extLst>
      <p:ext uri="{BB962C8B-B14F-4D97-AF65-F5344CB8AC3E}">
        <p14:creationId xmlns:p14="http://schemas.microsoft.com/office/powerpoint/2010/main" val="34535615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BA4BF3C-4CBA-C5C1-5F83-7FA47E16696C}"/>
              </a:ext>
            </a:extLst>
          </p:cNvPr>
          <p:cNvSpPr>
            <a:spLocks noGrp="1"/>
          </p:cNvSpPr>
          <p:nvPr>
            <p:ph type="title"/>
          </p:nvPr>
        </p:nvSpPr>
        <p:spPr/>
        <p:txBody>
          <a:bodyPr/>
          <a:lstStyle/>
          <a:p>
            <a:r>
              <a:rPr lang="sk-SK" dirty="0">
                <a:latin typeface="Arial" panose="020B0604020202020204" pitchFamily="34" charset="0"/>
                <a:cs typeface="Arial" panose="020B0604020202020204" pitchFamily="34" charset="0"/>
              </a:rPr>
              <a:t>Limity</a:t>
            </a:r>
          </a:p>
        </p:txBody>
      </p:sp>
      <p:sp>
        <p:nvSpPr>
          <p:cNvPr id="3" name="Zástupný objekt pre obsah 2">
            <a:extLst>
              <a:ext uri="{FF2B5EF4-FFF2-40B4-BE49-F238E27FC236}">
                <a16:creationId xmlns:a16="http://schemas.microsoft.com/office/drawing/2014/main" id="{9DD63CF8-C9E2-3DD2-EBB4-ADE839579DD3}"/>
              </a:ext>
            </a:extLst>
          </p:cNvPr>
          <p:cNvSpPr>
            <a:spLocks noGrp="1"/>
          </p:cNvSpPr>
          <p:nvPr>
            <p:ph idx="1"/>
          </p:nvPr>
        </p:nvSpPr>
        <p:spPr/>
        <p:txBody>
          <a:bodyPr vert="horz" lIns="91440" tIns="45720" rIns="91440" bIns="45720" rtlCol="0" anchor="t">
            <a:normAutofit/>
          </a:bodyPr>
          <a:lstStyle/>
          <a:p>
            <a:r>
              <a:rPr lang="sk-SK" sz="1800" b="1">
                <a:solidFill>
                  <a:srgbClr val="252525"/>
                </a:solidFill>
                <a:latin typeface="Arial"/>
                <a:ea typeface="Roboto"/>
                <a:cs typeface="Arial"/>
              </a:rPr>
              <a:t>Nekonzistencia rokov:</a:t>
            </a:r>
            <a:r>
              <a:rPr lang="sk-SK" sz="1800">
                <a:solidFill>
                  <a:srgbClr val="252525"/>
                </a:solidFill>
                <a:latin typeface="Arial"/>
                <a:ea typeface="Roboto"/>
                <a:cs typeface="Arial"/>
              </a:rPr>
              <a:t> Medzi databázami často existuje rozdiel ±1 rok kvôli odlišným dátumom online publikovania a vydania tlačenej verzie. Systém tento problém rieši implementáciou tolerancie na susediace roky.</a:t>
            </a:r>
          </a:p>
          <a:p>
            <a:r>
              <a:rPr lang="sk-SK" sz="1800" b="1">
                <a:solidFill>
                  <a:srgbClr val="252525"/>
                </a:solidFill>
                <a:latin typeface="Arial"/>
                <a:ea typeface="Roboto"/>
                <a:cs typeface="Arial"/>
              </a:rPr>
              <a:t>Jazykové bariéry:</a:t>
            </a:r>
            <a:r>
              <a:rPr lang="sk-SK" sz="1800">
                <a:solidFill>
                  <a:srgbClr val="252525"/>
                </a:solidFill>
                <a:latin typeface="Arial"/>
                <a:ea typeface="Roboto"/>
                <a:cs typeface="Arial"/>
              </a:rPr>
              <a:t> Súčasný model je navrhnutý primárne pre latinku. Pri spracovaní diel v jazykoch ako čínština, arabčina alebo pri použití cyriliky systém zlyháva, čo otvára priestor pre budúce doplnenie automatickej transliterácie.</a:t>
            </a:r>
          </a:p>
          <a:p>
            <a:r>
              <a:rPr lang="sk-SK" sz="1800" b="1">
                <a:solidFill>
                  <a:srgbClr val="252525"/>
                </a:solidFill>
                <a:latin typeface="Arial"/>
                <a:ea typeface="Roboto"/>
                <a:cs typeface="Arial"/>
              </a:rPr>
              <a:t>Závislosť na DOI pri evaluácii:</a:t>
            </a:r>
            <a:r>
              <a:rPr lang="sk-SK" sz="1800">
                <a:solidFill>
                  <a:srgbClr val="252525"/>
                </a:solidFill>
                <a:latin typeface="Arial"/>
                <a:ea typeface="Roboto"/>
                <a:cs typeface="Arial"/>
              </a:rPr>
              <a:t> Keďže sa výsledky pri hodnotení porovnávali voči identifikátorom DOI, úspešné priradenia referencií, ktoré DOI vôbec nemajú, neboli zahrnuté do metrík. To naznačuje, že reálna návratnosť (recall) systému môže byť v skutočnosti vyššia, než uvádzajú namerané čísla.</a:t>
            </a:r>
          </a:p>
          <a:p>
            <a:endParaRPr lang="sk-SK" dirty="0"/>
          </a:p>
        </p:txBody>
      </p:sp>
      <p:sp>
        <p:nvSpPr>
          <p:cNvPr id="4" name="Zástupný objekt pre dátum 3">
            <a:extLst>
              <a:ext uri="{FF2B5EF4-FFF2-40B4-BE49-F238E27FC236}">
                <a16:creationId xmlns:a16="http://schemas.microsoft.com/office/drawing/2014/main" id="{AC26ADF5-5526-6D75-0E2D-D58977438396}"/>
              </a:ext>
            </a:extLst>
          </p:cNvPr>
          <p:cNvSpPr>
            <a:spLocks noGrp="1"/>
          </p:cNvSpPr>
          <p:nvPr>
            <p:ph type="dt" sz="half" idx="10"/>
          </p:nvPr>
        </p:nvSpPr>
        <p:spPr/>
        <p:txBody>
          <a:bodyPr/>
          <a:lstStyle/>
          <a:p>
            <a:fld id="{7247B90B-50E4-4F39-B607-9D9EFD09CC2F}" type="datetime1">
              <a:t>14. 5. 2026</a:t>
            </a:fld>
            <a:endParaRPr lang="en-US" dirty="0"/>
          </a:p>
        </p:txBody>
      </p:sp>
      <p:sp>
        <p:nvSpPr>
          <p:cNvPr id="5" name="Zástupný objekt pre pätu 4">
            <a:extLst>
              <a:ext uri="{FF2B5EF4-FFF2-40B4-BE49-F238E27FC236}">
                <a16:creationId xmlns:a16="http://schemas.microsoft.com/office/drawing/2014/main" id="{EA4C6EFF-A520-F97C-3AB2-F0DE05F78074}"/>
              </a:ext>
            </a:extLst>
          </p:cNvPr>
          <p:cNvSpPr>
            <a:spLocks noGrp="1"/>
          </p:cNvSpPr>
          <p:nvPr>
            <p:ph type="ftr" sz="quarter" idx="11"/>
          </p:nvPr>
        </p:nvSpPr>
        <p:spPr/>
        <p:txBody>
          <a:bodyPr/>
          <a:lstStyle/>
          <a:p>
            <a:endParaRPr lang="en-US" dirty="0"/>
          </a:p>
        </p:txBody>
      </p:sp>
      <p:sp>
        <p:nvSpPr>
          <p:cNvPr id="6" name="Zástupný objekt pre číslo snímky 5">
            <a:extLst>
              <a:ext uri="{FF2B5EF4-FFF2-40B4-BE49-F238E27FC236}">
                <a16:creationId xmlns:a16="http://schemas.microsoft.com/office/drawing/2014/main" id="{34C97513-B604-B423-0C56-14CF97E3BCB6}"/>
              </a:ext>
            </a:extLst>
          </p:cNvPr>
          <p:cNvSpPr>
            <a:spLocks noGrp="1"/>
          </p:cNvSpPr>
          <p:nvPr>
            <p:ph type="sldNum" sz="quarter" idx="12"/>
          </p:nvPr>
        </p:nvSpPr>
        <p:spPr/>
        <p:txBody>
          <a:bodyPr/>
          <a:lstStyle/>
          <a:p>
            <a:fld id="{A65A5C87-DF58-40C8-B092-1DE63DB4547E}" type="slidenum">
              <a:rPr lang="en-US" dirty="0"/>
              <a:t>12</a:t>
            </a:fld>
            <a:endParaRPr lang="en-US" dirty="0"/>
          </a:p>
        </p:txBody>
      </p:sp>
    </p:spTree>
    <p:extLst>
      <p:ext uri="{BB962C8B-B14F-4D97-AF65-F5344CB8AC3E}">
        <p14:creationId xmlns:p14="http://schemas.microsoft.com/office/powerpoint/2010/main" val="10170314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662244E-3D97-AFB1-A75F-3DC6E0974705}"/>
              </a:ext>
            </a:extLst>
          </p:cNvPr>
          <p:cNvSpPr>
            <a:spLocks noGrp="1"/>
          </p:cNvSpPr>
          <p:nvPr>
            <p:ph type="title"/>
          </p:nvPr>
        </p:nvSpPr>
        <p:spPr/>
        <p:txBody>
          <a:bodyPr/>
          <a:lstStyle/>
          <a:p>
            <a:r>
              <a:rPr lang="sk-SK"/>
              <a:t>Ďakujem za pozornosť</a:t>
            </a:r>
          </a:p>
        </p:txBody>
      </p:sp>
      <p:sp>
        <p:nvSpPr>
          <p:cNvPr id="3" name="Zástupný objekt pre obsah 2">
            <a:extLst>
              <a:ext uri="{FF2B5EF4-FFF2-40B4-BE49-F238E27FC236}">
                <a16:creationId xmlns:a16="http://schemas.microsoft.com/office/drawing/2014/main" id="{E4F1DAD7-FF46-0407-AD73-2D5D9ABB7E66}"/>
              </a:ext>
            </a:extLst>
          </p:cNvPr>
          <p:cNvSpPr>
            <a:spLocks noGrp="1"/>
          </p:cNvSpPr>
          <p:nvPr>
            <p:ph idx="1"/>
          </p:nvPr>
        </p:nvSpPr>
        <p:spPr/>
        <p:txBody>
          <a:bodyPr vert="horz" lIns="91440" tIns="45720" rIns="91440" bIns="45720" rtlCol="0" anchor="t">
            <a:normAutofit/>
          </a:bodyPr>
          <a:lstStyle/>
          <a:p>
            <a:r>
              <a:rPr lang="sk-SK"/>
              <a:t>Projektová stránka: </a:t>
            </a:r>
            <a:r>
              <a:rPr lang="sk-SK" dirty="0">
                <a:ea typeface="+mn-lt"/>
                <a:cs typeface="+mn-lt"/>
              </a:rPr>
              <a:t>https://github.com/vladimirtischler/academic-citation-checker</a:t>
            </a:r>
            <a:endParaRPr lang="sk-SK"/>
          </a:p>
        </p:txBody>
      </p:sp>
    </p:spTree>
    <p:extLst>
      <p:ext uri="{BB962C8B-B14F-4D97-AF65-F5344CB8AC3E}">
        <p14:creationId xmlns:p14="http://schemas.microsoft.com/office/powerpoint/2010/main" val="711009020"/>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ccentBoxVTI">
      <a:majorFont>
        <a:latin typeface="Avenir Next LT Pro"/>
        <a:ea typeface=""/>
        <a:cs typeface=""/>
      </a:majorFont>
      <a:minorFont>
        <a:latin typeface="Avenir Next LT Pro"/>
        <a:ea typeface=""/>
        <a:cs typeface=""/>
      </a:minorFont>
    </a:fontScheme>
    <a:fmtScheme name="AccentBox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F4FE582F-5DDE-4E50-A331-B77FB79D7361}" vid="{42624B42-66F4-4B9A-A3DB-EB561F16279A}"/>
    </a:ext>
  </a:extLst>
</a:theme>
</file>

<file path=docProps/app.xml><?xml version="1.0" encoding="utf-8"?>
<Properties xmlns="http://schemas.openxmlformats.org/officeDocument/2006/extended-properties" xmlns:vt="http://schemas.openxmlformats.org/officeDocument/2006/docPropsVTypes">
  <TotalTime>1</TotalTime>
  <Words>1062</Words>
  <Application>Microsoft Office PowerPoint</Application>
  <PresentationFormat>Širokouhlá</PresentationFormat>
  <Paragraphs>67</Paragraphs>
  <Slides>13</Slides>
  <Notes>0</Notes>
  <HiddenSlides>0</HiddenSlides>
  <MMClips>0</MMClips>
  <ScaleCrop>false</ScaleCrop>
  <HeadingPairs>
    <vt:vector size="6" baseType="variant">
      <vt:variant>
        <vt:lpstr>Použité písma</vt:lpstr>
      </vt:variant>
      <vt:variant>
        <vt:i4>5</vt:i4>
      </vt:variant>
      <vt:variant>
        <vt:lpstr>Motív</vt:lpstr>
      </vt:variant>
      <vt:variant>
        <vt:i4>1</vt:i4>
      </vt:variant>
      <vt:variant>
        <vt:lpstr>Nadpisy snímok</vt:lpstr>
      </vt:variant>
      <vt:variant>
        <vt:i4>13</vt:i4>
      </vt:variant>
    </vt:vector>
  </HeadingPairs>
  <TitlesOfParts>
    <vt:vector size="19" baseType="lpstr">
      <vt:lpstr>Aptos</vt:lpstr>
      <vt:lpstr>Arial</vt:lpstr>
      <vt:lpstr>Arial Nova</vt:lpstr>
      <vt:lpstr>Avenir Next LT Pro</vt:lpstr>
      <vt:lpstr>Courier New</vt:lpstr>
      <vt:lpstr>AccentBoxVTI</vt:lpstr>
      <vt:lpstr>Automatic Citation Integrity Verification for LLM-Assisted Academic Writing</vt:lpstr>
      <vt:lpstr>Motivácia a problém</vt:lpstr>
      <vt:lpstr>Ciele práce</vt:lpstr>
      <vt:lpstr>Prečítaná literatúra</vt:lpstr>
      <vt:lpstr>Článok: Fabrication and errors in the bibliographic citations generated by ChatGPT</vt:lpstr>
      <vt:lpstr>Článok: A pipeline for matching bibliographic references with incomplete metadata: experiments with Crossref and OpenCitations</vt:lpstr>
      <vt:lpstr>Článok: CiteME: Can Language Models Accurately Cite Scientific Claims? </vt:lpstr>
      <vt:lpstr>Článok: Zero-shot Scientific Claim Verification Using LLMs and Citation Text</vt:lpstr>
      <vt:lpstr>Výzvy pri extrakcii citácií</vt:lpstr>
      <vt:lpstr>Identifikované problémy</vt:lpstr>
      <vt:lpstr>Riešenie</vt:lpstr>
      <vt:lpstr>Limity</vt:lpstr>
      <vt:lpstr>Ďakujem za pozornosť</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Vladimir Tischler</cp:lastModifiedBy>
  <cp:revision>345</cp:revision>
  <dcterms:created xsi:type="dcterms:W3CDTF">2026-05-14T09:11:17Z</dcterms:created>
  <dcterms:modified xsi:type="dcterms:W3CDTF">2026-05-14T14:36:16Z</dcterms:modified>
</cp:coreProperties>
</file>